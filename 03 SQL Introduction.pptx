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2" r:id="rId3"/>
    <p:sldId id="274" r:id="rId4"/>
    <p:sldId id="257" r:id="rId5"/>
    <p:sldId id="258" r:id="rId6"/>
    <p:sldId id="259" r:id="rId7"/>
    <p:sldId id="276" r:id="rId8"/>
    <p:sldId id="279" r:id="rId9"/>
    <p:sldId id="280" r:id="rId10"/>
    <p:sldId id="260" r:id="rId11"/>
    <p:sldId id="261" r:id="rId12"/>
    <p:sldId id="262" r:id="rId13"/>
    <p:sldId id="278" r:id="rId14"/>
    <p:sldId id="277" r:id="rId15"/>
    <p:sldId id="281" r:id="rId16"/>
    <p:sldId id="282" r:id="rId17"/>
    <p:sldId id="263" r:id="rId18"/>
    <p:sldId id="264" r:id="rId19"/>
    <p:sldId id="265" r:id="rId20"/>
    <p:sldId id="266" r:id="rId21"/>
    <p:sldId id="267" r:id="rId22"/>
    <p:sldId id="268" r:id="rId23"/>
    <p:sldId id="269" r:id="rId24"/>
    <p:sldId id="290" r:id="rId25"/>
    <p:sldId id="293" r:id="rId26"/>
    <p:sldId id="292" r:id="rId27"/>
    <p:sldId id="294" r:id="rId28"/>
    <p:sldId id="295" r:id="rId29"/>
    <p:sldId id="296" r:id="rId30"/>
    <p:sldId id="300" r:id="rId31"/>
    <p:sldId id="298" r:id="rId32"/>
    <p:sldId id="291" r:id="rId33"/>
    <p:sldId id="299" r:id="rId34"/>
    <p:sldId id="270" r:id="rId35"/>
    <p:sldId id="271" r:id="rId36"/>
    <p:sldId id="283" r:id="rId37"/>
    <p:sldId id="284" r:id="rId38"/>
    <p:sldId id="285" r:id="rId39"/>
    <p:sldId id="286" r:id="rId40"/>
    <p:sldId id="287" r:id="rId41"/>
    <p:sldId id="288"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1" d="100"/>
          <a:sy n="61" d="100"/>
        </p:scale>
        <p:origin x="102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7E5A7E18-E8EC-41F6-A496-C52F58BB2A26}" type="datetimeFigureOut">
              <a:rPr lang="en-PK" smtClean="0"/>
              <a:t>02/02/2026</a:t>
            </a:fld>
            <a:endParaRPr lang="en-PK"/>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PK"/>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A05CE8E8-098C-4B83-8B76-C2CB02A6B372}" type="slidenum">
              <a:rPr lang="en-PK" smtClean="0"/>
              <a:t>‹#›</a:t>
            </a:fld>
            <a:endParaRPr lang="en-PK"/>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1247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5A7E18-E8EC-41F6-A496-C52F58BB2A26}" type="datetimeFigureOut">
              <a:rPr lang="en-PK" smtClean="0"/>
              <a:t>02/02/2026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05CE8E8-098C-4B83-8B76-C2CB02A6B372}" type="slidenum">
              <a:rPr lang="en-PK" smtClean="0"/>
              <a:t>‹#›</a:t>
            </a:fld>
            <a:endParaRPr lang="en-PK"/>
          </a:p>
        </p:txBody>
      </p:sp>
    </p:spTree>
    <p:extLst>
      <p:ext uri="{BB962C8B-B14F-4D97-AF65-F5344CB8AC3E}">
        <p14:creationId xmlns:p14="http://schemas.microsoft.com/office/powerpoint/2010/main" val="3718021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5A7E18-E8EC-41F6-A496-C52F58BB2A26}" type="datetimeFigureOut">
              <a:rPr lang="en-PK" smtClean="0"/>
              <a:t>02/02/2026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05CE8E8-098C-4B83-8B76-C2CB02A6B372}" type="slidenum">
              <a:rPr lang="en-PK" smtClean="0"/>
              <a:t>‹#›</a:t>
            </a:fld>
            <a:endParaRPr lang="en-PK"/>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7288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5A7E18-E8EC-41F6-A496-C52F58BB2A26}" type="datetimeFigureOut">
              <a:rPr lang="en-PK" smtClean="0"/>
              <a:t>02/02/2026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A05CE8E8-098C-4B83-8B76-C2CB02A6B372}" type="slidenum">
              <a:rPr lang="en-PK" smtClean="0"/>
              <a:t>‹#›</a:t>
            </a:fld>
            <a:endParaRPr lang="en-PK"/>
          </a:p>
        </p:txBody>
      </p:sp>
    </p:spTree>
    <p:extLst>
      <p:ext uri="{BB962C8B-B14F-4D97-AF65-F5344CB8AC3E}">
        <p14:creationId xmlns:p14="http://schemas.microsoft.com/office/powerpoint/2010/main" val="2390801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E5A7E18-E8EC-41F6-A496-C52F58BB2A26}" type="datetimeFigureOut">
              <a:rPr lang="en-PK" smtClean="0"/>
              <a:t>02/02/2026</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A05CE8E8-098C-4B83-8B76-C2CB02A6B372}" type="slidenum">
              <a:rPr lang="en-PK" smtClean="0"/>
              <a:t>‹#›</a:t>
            </a:fld>
            <a:endParaRPr lang="en-PK"/>
          </a:p>
        </p:txBody>
      </p:sp>
    </p:spTree>
    <p:extLst>
      <p:ext uri="{BB962C8B-B14F-4D97-AF65-F5344CB8AC3E}">
        <p14:creationId xmlns:p14="http://schemas.microsoft.com/office/powerpoint/2010/main" val="1325729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5A7E18-E8EC-41F6-A496-C52F58BB2A26}" type="datetimeFigureOut">
              <a:rPr lang="en-PK" smtClean="0"/>
              <a:t>02/02/2026</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A05CE8E8-098C-4B83-8B76-C2CB02A6B372}" type="slidenum">
              <a:rPr lang="en-PK" smtClean="0"/>
              <a:t>‹#›</a:t>
            </a:fld>
            <a:endParaRPr lang="en-PK"/>
          </a:p>
        </p:txBody>
      </p:sp>
    </p:spTree>
    <p:extLst>
      <p:ext uri="{BB962C8B-B14F-4D97-AF65-F5344CB8AC3E}">
        <p14:creationId xmlns:p14="http://schemas.microsoft.com/office/powerpoint/2010/main" val="781223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5A7E18-E8EC-41F6-A496-C52F58BB2A26}" type="datetimeFigureOut">
              <a:rPr lang="en-PK" smtClean="0"/>
              <a:t>02/02/2026</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A05CE8E8-098C-4B83-8B76-C2CB02A6B372}" type="slidenum">
              <a:rPr lang="en-PK" smtClean="0"/>
              <a:t>‹#›</a:t>
            </a:fld>
            <a:endParaRPr lang="en-PK"/>
          </a:p>
        </p:txBody>
      </p:sp>
    </p:spTree>
    <p:extLst>
      <p:ext uri="{BB962C8B-B14F-4D97-AF65-F5344CB8AC3E}">
        <p14:creationId xmlns:p14="http://schemas.microsoft.com/office/powerpoint/2010/main" val="1478003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5A7E18-E8EC-41F6-A496-C52F58BB2A26}" type="datetimeFigureOut">
              <a:rPr lang="en-PK" smtClean="0"/>
              <a:t>02/02/2026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A05CE8E8-098C-4B83-8B76-C2CB02A6B372}" type="slidenum">
              <a:rPr lang="en-PK" smtClean="0"/>
              <a:t>‹#›</a:t>
            </a:fld>
            <a:endParaRPr lang="en-PK"/>
          </a:p>
        </p:txBody>
      </p:sp>
    </p:spTree>
    <p:extLst>
      <p:ext uri="{BB962C8B-B14F-4D97-AF65-F5344CB8AC3E}">
        <p14:creationId xmlns:p14="http://schemas.microsoft.com/office/powerpoint/2010/main" val="3750526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5A7E18-E8EC-41F6-A496-C52F58BB2A26}" type="datetimeFigureOut">
              <a:rPr lang="en-PK" smtClean="0"/>
              <a:t>02/02/2026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A05CE8E8-098C-4B83-8B76-C2CB02A6B372}" type="slidenum">
              <a:rPr lang="en-PK" smtClean="0"/>
              <a:t>‹#›</a:t>
            </a:fld>
            <a:endParaRPr lang="en-PK"/>
          </a:p>
        </p:txBody>
      </p:sp>
    </p:spTree>
    <p:extLst>
      <p:ext uri="{BB962C8B-B14F-4D97-AF65-F5344CB8AC3E}">
        <p14:creationId xmlns:p14="http://schemas.microsoft.com/office/powerpoint/2010/main" val="899691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5A7E18-E8EC-41F6-A496-C52F58BB2A26}" type="datetimeFigureOut">
              <a:rPr lang="en-PK" smtClean="0"/>
              <a:t>02/02/2026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05CE8E8-098C-4B83-8B76-C2CB02A6B372}" type="slidenum">
              <a:rPr lang="en-PK" smtClean="0"/>
              <a:t>‹#›</a:t>
            </a:fld>
            <a:endParaRPr lang="en-PK"/>
          </a:p>
        </p:txBody>
      </p:sp>
    </p:spTree>
    <p:extLst>
      <p:ext uri="{BB962C8B-B14F-4D97-AF65-F5344CB8AC3E}">
        <p14:creationId xmlns:p14="http://schemas.microsoft.com/office/powerpoint/2010/main" val="1515446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5A7E18-E8EC-41F6-A496-C52F58BB2A26}" type="datetimeFigureOut">
              <a:rPr lang="en-PK" smtClean="0"/>
              <a:t>02/02/2026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05CE8E8-098C-4B83-8B76-C2CB02A6B372}" type="slidenum">
              <a:rPr lang="en-PK" smtClean="0"/>
              <a:t>‹#›</a:t>
            </a:fld>
            <a:endParaRPr lang="en-PK"/>
          </a:p>
        </p:txBody>
      </p:sp>
    </p:spTree>
    <p:extLst>
      <p:ext uri="{BB962C8B-B14F-4D97-AF65-F5344CB8AC3E}">
        <p14:creationId xmlns:p14="http://schemas.microsoft.com/office/powerpoint/2010/main" val="2426011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Placeholder 1"/>
          <p:cNvSpPr>
            <a:spLocks noGrp="1"/>
          </p:cNvSpPr>
          <p:nvPr>
            <p:ph type="title"/>
          </p:nvPr>
        </p:nvSpPr>
        <p:spPr>
          <a:xfrm>
            <a:off x="551543" y="333833"/>
            <a:ext cx="11103428"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51543" y="1780186"/>
            <a:ext cx="11103427" cy="441081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7E5A7E18-E8EC-41F6-A496-C52F58BB2A26}" type="datetimeFigureOut">
              <a:rPr lang="en-PK" smtClean="0"/>
              <a:t>02/02/2026</a:t>
            </a:fld>
            <a:endParaRPr lang="en-PK"/>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PK"/>
          </a:p>
        </p:txBody>
      </p:sp>
      <p:sp>
        <p:nvSpPr>
          <p:cNvPr id="6" name="Slide Number Placeholder 5"/>
          <p:cNvSpPr>
            <a:spLocks noGrp="1"/>
          </p:cNvSpPr>
          <p:nvPr>
            <p:ph type="sldNum" sz="quarter" idx="4"/>
          </p:nvPr>
        </p:nvSpPr>
        <p:spPr>
          <a:xfrm>
            <a:off x="9329530" y="6223828"/>
            <a:ext cx="2325440" cy="365125"/>
          </a:xfrm>
          <a:prstGeom prst="rect">
            <a:avLst/>
          </a:prstGeom>
        </p:spPr>
        <p:txBody>
          <a:bodyPr vert="horz" lIns="91440" tIns="45720" rIns="91440" bIns="45720" rtlCol="0" anchor="ctr"/>
          <a:lstStyle>
            <a:lvl1pPr algn="r">
              <a:defRPr sz="1200">
                <a:solidFill>
                  <a:schemeClr val="accent1"/>
                </a:solidFill>
              </a:defRPr>
            </a:lvl1pPr>
          </a:lstStyle>
          <a:p>
            <a:fld id="{A05CE8E8-098C-4B83-8B76-C2CB02A6B372}" type="slidenum">
              <a:rPr lang="en-PK" smtClean="0"/>
              <a:t>‹#›</a:t>
            </a:fld>
            <a:endParaRPr lang="en-PK" dirty="0"/>
          </a:p>
        </p:txBody>
      </p:sp>
    </p:spTree>
    <p:extLst>
      <p:ext uri="{BB962C8B-B14F-4D97-AF65-F5344CB8AC3E}">
        <p14:creationId xmlns:p14="http://schemas.microsoft.com/office/powerpoint/2010/main" val="41259668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accent1"/>
          </a:solidFill>
          <a:latin typeface="Arial Rounded MT Bold" panose="020F0704030504030204" pitchFamily="34" charset="0"/>
          <a:ea typeface="+mj-ea"/>
          <a:cs typeface="Arial" panose="020B0604020202020204" pitchFamily="34" charset="0"/>
        </a:defRPr>
      </a:lvl1pPr>
    </p:titleStyle>
    <p:bodyStyle>
      <a:lvl1pPr marL="228600" indent="-182880" algn="just" defTabSz="914400" rtl="0" eaLnBrk="1" latinLnBrk="0" hangingPunct="1">
        <a:lnSpc>
          <a:spcPct val="90000"/>
        </a:lnSpc>
        <a:spcBef>
          <a:spcPts val="1400"/>
        </a:spcBef>
        <a:buClr>
          <a:schemeClr val="accent1"/>
        </a:buClr>
        <a:buSzPct val="80000"/>
        <a:buFont typeface="Corbel" pitchFamily="34" charset="0"/>
        <a:buChar char="•"/>
        <a:defRPr sz="2400" kern="1200">
          <a:solidFill>
            <a:schemeClr val="accent1"/>
          </a:solidFill>
          <a:latin typeface="Arial" panose="020B0604020202020204" pitchFamily="34" charset="0"/>
          <a:ea typeface="+mn-ea"/>
          <a:cs typeface="Arial" panose="020B0604020202020204" pitchFamily="34" charset="0"/>
        </a:defRPr>
      </a:lvl1pPr>
      <a:lvl2pPr marL="457200" indent="-182880" algn="just" defTabSz="914400" rtl="0" eaLnBrk="1" latinLnBrk="0" hangingPunct="1">
        <a:lnSpc>
          <a:spcPct val="90000"/>
        </a:lnSpc>
        <a:spcBef>
          <a:spcPts val="200"/>
        </a:spcBef>
        <a:spcAft>
          <a:spcPts val="400"/>
        </a:spcAft>
        <a:buClr>
          <a:schemeClr val="accent1"/>
        </a:buClr>
        <a:buSzPct val="80000"/>
        <a:buFont typeface="Corbel" pitchFamily="34" charset="0"/>
        <a:buChar char="•"/>
        <a:defRPr sz="2400" kern="1200">
          <a:solidFill>
            <a:schemeClr val="accent1"/>
          </a:solidFill>
          <a:latin typeface="Arial" panose="020B0604020202020204" pitchFamily="34" charset="0"/>
          <a:ea typeface="+mn-ea"/>
          <a:cs typeface="Arial" panose="020B0604020202020204" pitchFamily="34" charset="0"/>
        </a:defRPr>
      </a:lvl2pPr>
      <a:lvl3pPr marL="731520" indent="-182880" algn="just"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Arial" panose="020B0604020202020204" pitchFamily="34" charset="0"/>
          <a:ea typeface="+mn-ea"/>
          <a:cs typeface="Arial" panose="020B0604020202020204" pitchFamily="34" charset="0"/>
        </a:defRPr>
      </a:lvl3pPr>
      <a:lvl4pPr marL="1005840" indent="-182880" algn="just"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Arial" panose="020B0604020202020204" pitchFamily="34" charset="0"/>
          <a:ea typeface="+mn-ea"/>
          <a:cs typeface="Arial" panose="020B0604020202020204" pitchFamily="34" charset="0"/>
        </a:defRPr>
      </a:lvl4pPr>
      <a:lvl5pPr marL="1280160" indent="-182880" algn="just"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Arial" panose="020B0604020202020204" pitchFamily="34" charset="0"/>
          <a:ea typeface="+mn-ea"/>
          <a:cs typeface="Arial" panose="020B0604020202020204" pitchFamily="34" charset="0"/>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w3schools.com/mysql/mysql_constraints.asp" TargetMode="Externa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image" Target="../media/image25.tmp"/><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BE7FA-C2DD-3143-450D-3CC1FE037B4F}"/>
              </a:ext>
            </a:extLst>
          </p:cNvPr>
          <p:cNvSpPr>
            <a:spLocks noGrp="1"/>
          </p:cNvSpPr>
          <p:nvPr>
            <p:ph type="ctrTitle"/>
          </p:nvPr>
        </p:nvSpPr>
        <p:spPr/>
        <p:txBody>
          <a:bodyPr/>
          <a:lstStyle/>
          <a:p>
            <a:r>
              <a:rPr lang="en-US" dirty="0">
                <a:effectLst>
                  <a:outerShdw blurRad="38100" dist="38100" dir="2700000" algn="tl">
                    <a:srgbClr val="000000">
                      <a:alpha val="43137"/>
                    </a:srgbClr>
                  </a:outerShdw>
                </a:effectLst>
              </a:rPr>
              <a:t>DATABASE SYSTEMS</a:t>
            </a:r>
            <a:endParaRPr lang="en-PK" dirty="0">
              <a:effectLst>
                <a:outerShdw blurRad="38100" dist="38100" dir="2700000" algn="tl">
                  <a:srgbClr val="000000">
                    <a:alpha val="43137"/>
                  </a:srgbClr>
                </a:outerShdw>
              </a:effectLst>
            </a:endParaRPr>
          </a:p>
        </p:txBody>
      </p:sp>
      <p:sp>
        <p:nvSpPr>
          <p:cNvPr id="3" name="Subtitle 2">
            <a:extLst>
              <a:ext uri="{FF2B5EF4-FFF2-40B4-BE49-F238E27FC236}">
                <a16:creationId xmlns:a16="http://schemas.microsoft.com/office/drawing/2014/main" id="{B52E0453-1EFC-E56E-3E30-61D3B9A45E42}"/>
              </a:ext>
            </a:extLst>
          </p:cNvPr>
          <p:cNvSpPr>
            <a:spLocks noGrp="1"/>
          </p:cNvSpPr>
          <p:nvPr>
            <p:ph type="subTitle" idx="1"/>
          </p:nvPr>
        </p:nvSpPr>
        <p:spPr/>
        <p:txBody>
          <a:bodyPr>
            <a:normAutofit/>
          </a:bodyPr>
          <a:lstStyle/>
          <a:p>
            <a:r>
              <a:rPr lang="en-US" dirty="0">
                <a:effectLst>
                  <a:outerShdw blurRad="38100" dist="38100" dir="2700000" algn="tl">
                    <a:srgbClr val="000000">
                      <a:alpha val="43137"/>
                    </a:srgbClr>
                  </a:outerShdw>
                </a:effectLst>
              </a:rPr>
              <a:t>FACULTY OF AI &amp; MMG</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Structured Query Language</a:t>
            </a:r>
          </a:p>
          <a:p>
            <a:endParaRPr lang="en-PK" dirty="0"/>
          </a:p>
        </p:txBody>
      </p:sp>
    </p:spTree>
    <p:extLst>
      <p:ext uri="{BB962C8B-B14F-4D97-AF65-F5344CB8AC3E}">
        <p14:creationId xmlns:p14="http://schemas.microsoft.com/office/powerpoint/2010/main" val="2718009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10329-B3EA-8712-60E7-337275A6DE7A}"/>
              </a:ext>
            </a:extLst>
          </p:cNvPr>
          <p:cNvSpPr>
            <a:spLocks noGrp="1"/>
          </p:cNvSpPr>
          <p:nvPr>
            <p:ph type="title"/>
          </p:nvPr>
        </p:nvSpPr>
        <p:spPr/>
        <p:txBody>
          <a:bodyPr/>
          <a:lstStyle/>
          <a:p>
            <a:r>
              <a:rPr lang="en-US" dirty="0"/>
              <a:t>MySQL</a:t>
            </a:r>
            <a:endParaRPr lang="en-PK" dirty="0"/>
          </a:p>
        </p:txBody>
      </p:sp>
      <p:sp>
        <p:nvSpPr>
          <p:cNvPr id="3" name="Content Placeholder 2">
            <a:extLst>
              <a:ext uri="{FF2B5EF4-FFF2-40B4-BE49-F238E27FC236}">
                <a16:creationId xmlns:a16="http://schemas.microsoft.com/office/drawing/2014/main" id="{FB690E96-1218-6470-E59C-A96F9068FC95}"/>
              </a:ext>
            </a:extLst>
          </p:cNvPr>
          <p:cNvSpPr>
            <a:spLocks noGrp="1"/>
          </p:cNvSpPr>
          <p:nvPr>
            <p:ph idx="1"/>
          </p:nvPr>
        </p:nvSpPr>
        <p:spPr/>
        <p:txBody>
          <a:bodyPr>
            <a:normAutofit lnSpcReduction="10000"/>
          </a:bodyPr>
          <a:lstStyle/>
          <a:p>
            <a:r>
              <a:rPr lang="en-US" dirty="0"/>
              <a:t>MySQL is a very popular open-source relational database management system (RDBMS).</a:t>
            </a:r>
          </a:p>
          <a:p>
            <a:r>
              <a:rPr lang="en-US" dirty="0"/>
              <a:t>MySQL is a relational database management system</a:t>
            </a:r>
          </a:p>
          <a:p>
            <a:r>
              <a:rPr lang="en-US" dirty="0"/>
              <a:t>MySQL is free &amp; open-source</a:t>
            </a:r>
          </a:p>
          <a:p>
            <a:r>
              <a:rPr lang="en-US" dirty="0"/>
              <a:t>MySQL is ideal for both small and large applications</a:t>
            </a:r>
          </a:p>
          <a:p>
            <a:r>
              <a:rPr lang="en-US" dirty="0"/>
              <a:t>MySQL is very fast, reliable, scalable, and easy to use</a:t>
            </a:r>
          </a:p>
          <a:p>
            <a:r>
              <a:rPr lang="en-US" dirty="0"/>
              <a:t>MySQL was first released in 1995</a:t>
            </a:r>
          </a:p>
          <a:p>
            <a:r>
              <a:rPr lang="en-US" dirty="0"/>
              <a:t>MySQL is developed, distributed, and supported by Oracle Corporation</a:t>
            </a:r>
          </a:p>
          <a:p>
            <a:r>
              <a:rPr lang="en-US" dirty="0"/>
              <a:t>MySQL is named after co-founder Ulf Michael "Monty" </a:t>
            </a:r>
            <a:r>
              <a:rPr lang="en-US" dirty="0" err="1"/>
              <a:t>Widenius's</a:t>
            </a:r>
            <a:r>
              <a:rPr lang="en-US" dirty="0"/>
              <a:t> daughter: My</a:t>
            </a:r>
            <a:endParaRPr lang="en-PK" dirty="0"/>
          </a:p>
        </p:txBody>
      </p:sp>
    </p:spTree>
    <p:extLst>
      <p:ext uri="{BB962C8B-B14F-4D97-AF65-F5344CB8AC3E}">
        <p14:creationId xmlns:p14="http://schemas.microsoft.com/office/powerpoint/2010/main" val="2804458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9E09B16-4874-4AF2-86A9-1E174C200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pic>
        <p:nvPicPr>
          <p:cNvPr id="4" name="Content Placeholder 3" descr="A diagram of a software language&#10;&#10;Description automatically generated with medium confidence">
            <a:extLst>
              <a:ext uri="{FF2B5EF4-FFF2-40B4-BE49-F238E27FC236}">
                <a16:creationId xmlns:a16="http://schemas.microsoft.com/office/drawing/2014/main" id="{8A58D18B-1938-81C0-CC05-A06BE57797B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3" b="430"/>
          <a:stretch/>
        </p:blipFill>
        <p:spPr bwMode="auto">
          <a:xfrm>
            <a:off x="20" y="-31522"/>
            <a:ext cx="12191980" cy="6857990"/>
          </a:xfrm>
          <a:prstGeom prst="rect">
            <a:avLst/>
          </a:prstGeom>
          <a:noFill/>
        </p:spPr>
      </p:pic>
      <p:sp>
        <p:nvSpPr>
          <p:cNvPr id="11" name="Rectangle 10">
            <a:extLst>
              <a:ext uri="{FF2B5EF4-FFF2-40B4-BE49-F238E27FC236}">
                <a16:creationId xmlns:a16="http://schemas.microsoft.com/office/drawing/2014/main" id="{F557AC3B-63D5-4181-AD35-0D051F7C82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Tree>
    <p:extLst>
      <p:ext uri="{BB962C8B-B14F-4D97-AF65-F5344CB8AC3E}">
        <p14:creationId xmlns:p14="http://schemas.microsoft.com/office/powerpoint/2010/main" val="1942289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1D8A4-3F46-F387-2091-9EB6D9A1F3D4}"/>
              </a:ext>
            </a:extLst>
          </p:cNvPr>
          <p:cNvSpPr>
            <a:spLocks noGrp="1"/>
          </p:cNvSpPr>
          <p:nvPr>
            <p:ph type="title"/>
          </p:nvPr>
        </p:nvSpPr>
        <p:spPr/>
        <p:txBody>
          <a:bodyPr/>
          <a:lstStyle/>
          <a:p>
            <a:r>
              <a:rPr lang="en-US" dirty="0"/>
              <a:t>Overview of DDL Statements</a:t>
            </a:r>
            <a:endParaRPr lang="en-PK" dirty="0"/>
          </a:p>
        </p:txBody>
      </p:sp>
      <p:sp>
        <p:nvSpPr>
          <p:cNvPr id="3" name="Content Placeholder 2">
            <a:extLst>
              <a:ext uri="{FF2B5EF4-FFF2-40B4-BE49-F238E27FC236}">
                <a16:creationId xmlns:a16="http://schemas.microsoft.com/office/drawing/2014/main" id="{E617A577-EE69-8AD1-CF4D-B289A244BE6D}"/>
              </a:ext>
            </a:extLst>
          </p:cNvPr>
          <p:cNvSpPr>
            <a:spLocks noGrp="1"/>
          </p:cNvSpPr>
          <p:nvPr>
            <p:ph idx="1"/>
          </p:nvPr>
        </p:nvSpPr>
        <p:spPr/>
        <p:txBody>
          <a:bodyPr>
            <a:normAutofit/>
          </a:bodyPr>
          <a:lstStyle/>
          <a:p>
            <a:r>
              <a:rPr lang="en-US" b="1" dirty="0"/>
              <a:t>Data Definition Language (DDL):</a:t>
            </a:r>
          </a:p>
          <a:p>
            <a:pPr lvl="1" algn="just"/>
            <a:endParaRPr lang="en-US" dirty="0"/>
          </a:p>
          <a:p>
            <a:pPr lvl="1" algn="just"/>
            <a:r>
              <a:rPr lang="en-US" dirty="0"/>
              <a:t>The CREATE statement is used to create a new database, table, index, or other database objects.</a:t>
            </a:r>
          </a:p>
          <a:p>
            <a:pPr lvl="1" algn="just"/>
            <a:endParaRPr lang="en-US" dirty="0"/>
          </a:p>
          <a:p>
            <a:pPr lvl="1" algn="just"/>
            <a:r>
              <a:rPr lang="en-US" dirty="0"/>
              <a:t>Used to define and modify database structures.</a:t>
            </a:r>
          </a:p>
          <a:p>
            <a:pPr lvl="1" algn="just"/>
            <a:endParaRPr lang="en-US" dirty="0"/>
          </a:p>
          <a:p>
            <a:pPr lvl="1" algn="just"/>
            <a:r>
              <a:rPr lang="en-US" dirty="0"/>
              <a:t>Common statements: CREATE, ALTER, DROP, TRUNCATE, RENAME, CREATE INDEX, DROP INDEX.</a:t>
            </a:r>
          </a:p>
          <a:p>
            <a:endParaRPr lang="en-US" dirty="0"/>
          </a:p>
        </p:txBody>
      </p:sp>
    </p:spTree>
    <p:extLst>
      <p:ext uri="{BB962C8B-B14F-4D97-AF65-F5344CB8AC3E}">
        <p14:creationId xmlns:p14="http://schemas.microsoft.com/office/powerpoint/2010/main" val="2788095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09C0BCD-BEE9-423F-A51C-BCCD8E5EA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4" name="Rectangle 13">
            <a:extLst>
              <a:ext uri="{FF2B5EF4-FFF2-40B4-BE49-F238E27FC236}">
                <a16:creationId xmlns:a16="http://schemas.microsoft.com/office/drawing/2014/main" id="{9998D094-42B2-42BA-AA14-E8FBE073A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16" name="Straight Connector 15">
            <a:extLst>
              <a:ext uri="{FF2B5EF4-FFF2-40B4-BE49-F238E27FC236}">
                <a16:creationId xmlns:a16="http://schemas.microsoft.com/office/drawing/2014/main" id="{8465D64B-59F4-4BDC-B833-A17EF1E046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3FE6F10-B3AD-4403-94CA-F51155286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useBgFill="1">
        <p:nvSpPr>
          <p:cNvPr id="20" name="Rectangle 19">
            <a:extLst>
              <a:ext uri="{FF2B5EF4-FFF2-40B4-BE49-F238E27FC236}">
                <a16:creationId xmlns:a16="http://schemas.microsoft.com/office/drawing/2014/main" id="{364D6A39-A4F7-4B00-9F42-3BC67177DB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22" name="Straight Connector 21">
            <a:extLst>
              <a:ext uri="{FF2B5EF4-FFF2-40B4-BE49-F238E27FC236}">
                <a16:creationId xmlns:a16="http://schemas.microsoft.com/office/drawing/2014/main" id="{13553ADF-88A1-4645-B819-890CA3DF7D5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B5D0D97D-7911-4A25-88E2-4D81FD4AB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38E36709-3A6D-1DBD-43C2-A08C1B685183}"/>
              </a:ext>
            </a:extLst>
          </p:cNvPr>
          <p:cNvSpPr>
            <a:spLocks noGrp="1"/>
          </p:cNvSpPr>
          <p:nvPr>
            <p:ph type="title"/>
          </p:nvPr>
        </p:nvSpPr>
        <p:spPr>
          <a:xfrm>
            <a:off x="8195138" y="857675"/>
            <a:ext cx="3113366" cy="3545138"/>
          </a:xfrm>
        </p:spPr>
        <p:txBody>
          <a:bodyPr vert="horz" lIns="91440" tIns="45720" rIns="91440" bIns="45720" rtlCol="0" anchor="b">
            <a:normAutofit/>
          </a:bodyPr>
          <a:lstStyle/>
          <a:p>
            <a:pPr algn="ctr">
              <a:lnSpc>
                <a:spcPct val="85000"/>
              </a:lnSpc>
            </a:pPr>
            <a:r>
              <a:rPr lang="en-US" sz="3400" b="1" cap="all" dirty="0">
                <a:solidFill>
                  <a:srgbClr val="FFFFFF"/>
                </a:solidFill>
                <a:latin typeface="+mj-lt"/>
                <a:cs typeface="+mj-cs"/>
              </a:rPr>
              <a:t>CREATE Statements</a:t>
            </a:r>
          </a:p>
        </p:txBody>
      </p:sp>
      <p:sp>
        <p:nvSpPr>
          <p:cNvPr id="3" name="Content Placeholder 2">
            <a:extLst>
              <a:ext uri="{FF2B5EF4-FFF2-40B4-BE49-F238E27FC236}">
                <a16:creationId xmlns:a16="http://schemas.microsoft.com/office/drawing/2014/main" id="{6F485811-F42A-2EEE-77EE-5D528645E324}"/>
              </a:ext>
            </a:extLst>
          </p:cNvPr>
          <p:cNvSpPr>
            <a:spLocks noGrp="1"/>
          </p:cNvSpPr>
          <p:nvPr>
            <p:ph idx="1"/>
          </p:nvPr>
        </p:nvSpPr>
        <p:spPr>
          <a:xfrm>
            <a:off x="7820527" y="4541697"/>
            <a:ext cx="3753852" cy="1543422"/>
          </a:xfrm>
        </p:spPr>
        <p:txBody>
          <a:bodyPr vert="horz" lIns="91440" tIns="45720" rIns="91440" bIns="45720" rtlCol="0">
            <a:normAutofit/>
          </a:bodyPr>
          <a:lstStyle/>
          <a:p>
            <a:pPr marL="0" indent="0" algn="ctr">
              <a:buNone/>
            </a:pPr>
            <a:r>
              <a:rPr lang="en-US" sz="2000" dirty="0">
                <a:solidFill>
                  <a:srgbClr val="FFFFFF"/>
                </a:solidFill>
                <a:latin typeface="+mn-lt"/>
                <a:cs typeface="+mn-cs"/>
              </a:rPr>
              <a:t>Make sure you have admin privilege before creating any database. For Checking:</a:t>
            </a:r>
          </a:p>
          <a:p>
            <a:pPr marL="0" indent="0" algn="ctr">
              <a:buNone/>
            </a:pPr>
            <a:r>
              <a:rPr lang="en-US" sz="2000" i="1" dirty="0">
                <a:solidFill>
                  <a:srgbClr val="FFFFFF"/>
                </a:solidFill>
                <a:latin typeface="+mn-lt"/>
                <a:cs typeface="+mn-cs"/>
              </a:rPr>
              <a:t>Show databases; </a:t>
            </a:r>
          </a:p>
        </p:txBody>
      </p:sp>
      <p:pic>
        <p:nvPicPr>
          <p:cNvPr id="7" name="Picture 6" descr="A screenshot of a computer&#10;&#10;Description automatically generated">
            <a:extLst>
              <a:ext uri="{FF2B5EF4-FFF2-40B4-BE49-F238E27FC236}">
                <a16:creationId xmlns:a16="http://schemas.microsoft.com/office/drawing/2014/main" id="{1B0AA261-35B8-C220-F9AF-B3CFE2833263}"/>
              </a:ext>
            </a:extLst>
          </p:cNvPr>
          <p:cNvPicPr>
            <a:picLocks noChangeAspect="1"/>
          </p:cNvPicPr>
          <p:nvPr/>
        </p:nvPicPr>
        <p:blipFill>
          <a:blip r:embed="rId2">
            <a:extLst>
              <a:ext uri="{28A0092B-C50C-407E-A947-70E740481C1C}">
                <a14:useLocalDpi xmlns:a14="http://schemas.microsoft.com/office/drawing/2010/main" val="0"/>
              </a:ext>
            </a:extLst>
          </a:blip>
          <a:srcRect l="-121" t="-1" r="-370" b="4"/>
          <a:stretch/>
        </p:blipFill>
        <p:spPr>
          <a:xfrm>
            <a:off x="236220" y="496728"/>
            <a:ext cx="7301533" cy="5927298"/>
          </a:xfrm>
          <a:prstGeom prst="rect">
            <a:avLst/>
          </a:prstGeom>
        </p:spPr>
      </p:pic>
    </p:spTree>
    <p:extLst>
      <p:ext uri="{BB962C8B-B14F-4D97-AF65-F5344CB8AC3E}">
        <p14:creationId xmlns:p14="http://schemas.microsoft.com/office/powerpoint/2010/main" val="2113878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809C0BCD-BEE9-423F-A51C-BCCD8E5EA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39" name="Rectangle 38">
            <a:extLst>
              <a:ext uri="{FF2B5EF4-FFF2-40B4-BE49-F238E27FC236}">
                <a16:creationId xmlns:a16="http://schemas.microsoft.com/office/drawing/2014/main" id="{9998D094-42B2-42BA-AA14-E8FBE073A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41" name="Straight Connector 40">
            <a:extLst>
              <a:ext uri="{FF2B5EF4-FFF2-40B4-BE49-F238E27FC236}">
                <a16:creationId xmlns:a16="http://schemas.microsoft.com/office/drawing/2014/main" id="{8465D64B-59F4-4BDC-B833-A17EF1E046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04BCB9E2-CEA3-4AED-BDAC-BFD45CE9C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useBgFill="1">
        <p:nvSpPr>
          <p:cNvPr id="45" name="Rectangle 44">
            <a:extLst>
              <a:ext uri="{FF2B5EF4-FFF2-40B4-BE49-F238E27FC236}">
                <a16:creationId xmlns:a16="http://schemas.microsoft.com/office/drawing/2014/main" id="{9E92B39E-F855-499B-BD7E-36BAB93A97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246887"/>
            <a:ext cx="7314691" cy="6377939"/>
          </a:xfrm>
          <a:prstGeom prst="rect">
            <a:avLst/>
          </a:prstGeom>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47" name="Straight Connector 46">
            <a:extLst>
              <a:ext uri="{FF2B5EF4-FFF2-40B4-BE49-F238E27FC236}">
                <a16:creationId xmlns:a16="http://schemas.microsoft.com/office/drawing/2014/main" id="{50C72FFD-DD89-412D-B569-F9A0F3A698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33843" y="4005950"/>
            <a:ext cx="5319020"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F294E8CF-7744-4206-9889-C122C30E8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607F69D3-5FD2-5FAA-C389-BBDF87467F99}"/>
              </a:ext>
            </a:extLst>
          </p:cNvPr>
          <p:cNvSpPr>
            <a:spLocks noGrp="1"/>
          </p:cNvSpPr>
          <p:nvPr>
            <p:ph type="title"/>
          </p:nvPr>
        </p:nvSpPr>
        <p:spPr>
          <a:xfrm>
            <a:off x="5283553" y="893398"/>
            <a:ext cx="6019601" cy="3187208"/>
          </a:xfrm>
        </p:spPr>
        <p:txBody>
          <a:bodyPr vert="horz" lIns="91440" tIns="45720" rIns="91440" bIns="45720" rtlCol="0" anchor="b">
            <a:normAutofit/>
          </a:bodyPr>
          <a:lstStyle/>
          <a:p>
            <a:pPr algn="ctr">
              <a:lnSpc>
                <a:spcPct val="85000"/>
              </a:lnSpc>
            </a:pPr>
            <a:r>
              <a:rPr lang="en-US" sz="6600" b="1" cap="all" dirty="0">
                <a:solidFill>
                  <a:srgbClr val="FFFFFF"/>
                </a:solidFill>
                <a:latin typeface="+mj-lt"/>
                <a:cs typeface="+mj-cs"/>
              </a:rPr>
              <a:t>CREATE Statements</a:t>
            </a:r>
          </a:p>
        </p:txBody>
      </p:sp>
      <p:sp>
        <p:nvSpPr>
          <p:cNvPr id="3" name="Content Placeholder 2">
            <a:extLst>
              <a:ext uri="{FF2B5EF4-FFF2-40B4-BE49-F238E27FC236}">
                <a16:creationId xmlns:a16="http://schemas.microsoft.com/office/drawing/2014/main" id="{A7FA016F-4BF3-880A-22C1-B9607446B07E}"/>
              </a:ext>
            </a:extLst>
          </p:cNvPr>
          <p:cNvSpPr>
            <a:spLocks noGrp="1"/>
          </p:cNvSpPr>
          <p:nvPr>
            <p:ph idx="1"/>
          </p:nvPr>
        </p:nvSpPr>
        <p:spPr>
          <a:xfrm>
            <a:off x="5313933" y="4141784"/>
            <a:ext cx="5958841" cy="1388165"/>
          </a:xfrm>
        </p:spPr>
        <p:txBody>
          <a:bodyPr vert="horz" lIns="91440" tIns="45720" rIns="91440" bIns="45720" rtlCol="0">
            <a:normAutofit/>
          </a:bodyPr>
          <a:lstStyle/>
          <a:p>
            <a:pPr marL="0" indent="0" algn="ctr">
              <a:buNone/>
            </a:pPr>
            <a:r>
              <a:rPr lang="en-US" sz="2200">
                <a:solidFill>
                  <a:srgbClr val="FFFFFF"/>
                </a:solidFill>
                <a:latin typeface="+mn-lt"/>
                <a:cs typeface="+mn-cs"/>
              </a:rPr>
              <a:t>This creates a table named Customers with four columns: </a:t>
            </a:r>
            <a:r>
              <a:rPr lang="en-US" sz="2200" i="1">
                <a:solidFill>
                  <a:srgbClr val="FFFFFF"/>
                </a:solidFill>
                <a:latin typeface="+mn-lt"/>
                <a:cs typeface="+mn-cs"/>
              </a:rPr>
              <a:t>CustomerID, FirstName, LastName, and Email.</a:t>
            </a:r>
          </a:p>
        </p:txBody>
      </p:sp>
      <p:pic>
        <p:nvPicPr>
          <p:cNvPr id="5" name="Picture 4" descr="A screenshot of a computer screen&#10;&#10;Description automatically generated">
            <a:extLst>
              <a:ext uri="{FF2B5EF4-FFF2-40B4-BE49-F238E27FC236}">
                <a16:creationId xmlns:a16="http://schemas.microsoft.com/office/drawing/2014/main" id="{38543A95-2471-A68C-ABAE-619D98826BDD}"/>
              </a:ext>
            </a:extLst>
          </p:cNvPr>
          <p:cNvPicPr>
            <a:picLocks noChangeAspect="1"/>
          </p:cNvPicPr>
          <p:nvPr/>
        </p:nvPicPr>
        <p:blipFill>
          <a:blip r:embed="rId2"/>
          <a:srcRect t="-1" r="2057" b="-1"/>
          <a:stretch/>
        </p:blipFill>
        <p:spPr>
          <a:xfrm>
            <a:off x="583324" y="401490"/>
            <a:ext cx="3831021" cy="6070259"/>
          </a:xfrm>
          <a:prstGeom prst="rect">
            <a:avLst/>
          </a:prstGeom>
        </p:spPr>
      </p:pic>
    </p:spTree>
    <p:extLst>
      <p:ext uri="{BB962C8B-B14F-4D97-AF65-F5344CB8AC3E}">
        <p14:creationId xmlns:p14="http://schemas.microsoft.com/office/powerpoint/2010/main" val="3128984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A2EA6A6-CD0C-4CFD-8EC2-AA44F9870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A672B367-8E72-EFF3-5015-4FC820FADA6F}"/>
              </a:ext>
            </a:extLst>
          </p:cNvPr>
          <p:cNvSpPr>
            <a:spLocks noGrp="1"/>
          </p:cNvSpPr>
          <p:nvPr>
            <p:ph type="title"/>
          </p:nvPr>
        </p:nvSpPr>
        <p:spPr>
          <a:xfrm>
            <a:off x="392316" y="1226819"/>
            <a:ext cx="2721285" cy="1356360"/>
          </a:xfrm>
        </p:spPr>
        <p:txBody>
          <a:bodyPr>
            <a:normAutofit/>
          </a:bodyPr>
          <a:lstStyle/>
          <a:p>
            <a:r>
              <a:rPr lang="en-US" sz="3200" dirty="0"/>
              <a:t>MySQL Data Types</a:t>
            </a:r>
            <a:endParaRPr lang="en-PK" sz="3200" dirty="0"/>
          </a:p>
        </p:txBody>
      </p:sp>
      <p:pic>
        <p:nvPicPr>
          <p:cNvPr id="5" name="Picture 4">
            <a:extLst>
              <a:ext uri="{FF2B5EF4-FFF2-40B4-BE49-F238E27FC236}">
                <a16:creationId xmlns:a16="http://schemas.microsoft.com/office/drawing/2014/main" id="{1E973B80-98AA-7FD9-9796-059B85AF411C}"/>
              </a:ext>
            </a:extLst>
          </p:cNvPr>
          <p:cNvPicPr>
            <a:picLocks noChangeAspect="1"/>
          </p:cNvPicPr>
          <p:nvPr/>
        </p:nvPicPr>
        <p:blipFill>
          <a:blip r:embed="rId2"/>
          <a:stretch>
            <a:fillRect/>
          </a:stretch>
        </p:blipFill>
        <p:spPr>
          <a:xfrm>
            <a:off x="3442137" y="236220"/>
            <a:ext cx="8749863" cy="6385559"/>
          </a:xfrm>
          <a:prstGeom prst="rect">
            <a:avLst/>
          </a:prstGeom>
        </p:spPr>
      </p:pic>
      <p:sp>
        <p:nvSpPr>
          <p:cNvPr id="3" name="Content Placeholder 2">
            <a:extLst>
              <a:ext uri="{FF2B5EF4-FFF2-40B4-BE49-F238E27FC236}">
                <a16:creationId xmlns:a16="http://schemas.microsoft.com/office/drawing/2014/main" id="{FB740341-7EC8-1337-0318-0CC2034096DE}"/>
              </a:ext>
            </a:extLst>
          </p:cNvPr>
          <p:cNvSpPr>
            <a:spLocks noGrp="1"/>
          </p:cNvSpPr>
          <p:nvPr>
            <p:ph idx="1"/>
          </p:nvPr>
        </p:nvSpPr>
        <p:spPr>
          <a:xfrm>
            <a:off x="231140" y="2583179"/>
            <a:ext cx="3074276" cy="4038600"/>
          </a:xfrm>
        </p:spPr>
        <p:txBody>
          <a:bodyPr>
            <a:normAutofit/>
          </a:bodyPr>
          <a:lstStyle/>
          <a:p>
            <a:r>
              <a:rPr lang="en-US" sz="1600" dirty="0"/>
              <a:t>Each column in a database table is required to have a name and a data type.</a:t>
            </a:r>
          </a:p>
          <a:p>
            <a:r>
              <a:rPr lang="en-US" sz="1600" dirty="0"/>
              <a:t>In MySQL there are three main data types: </a:t>
            </a:r>
            <a:r>
              <a:rPr lang="en-US" sz="1600" i="1" dirty="0"/>
              <a:t>string, numeric, and date or time.</a:t>
            </a:r>
          </a:p>
          <a:p>
            <a:endParaRPr lang="en-PK" sz="1600" dirty="0"/>
          </a:p>
        </p:txBody>
      </p:sp>
    </p:spTree>
    <p:extLst>
      <p:ext uri="{BB962C8B-B14F-4D97-AF65-F5344CB8AC3E}">
        <p14:creationId xmlns:p14="http://schemas.microsoft.com/office/powerpoint/2010/main" val="3724754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C5B40411-8A8A-00CC-625D-18D158B17A8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C68F560-112F-435E-B5B3-27966E94B2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504BD280-8295-3C8D-11F8-E6D12A4639F0}"/>
              </a:ext>
            </a:extLst>
          </p:cNvPr>
          <p:cNvSpPr>
            <a:spLocks noGrp="1"/>
          </p:cNvSpPr>
          <p:nvPr>
            <p:ph type="title"/>
          </p:nvPr>
        </p:nvSpPr>
        <p:spPr>
          <a:xfrm>
            <a:off x="392316" y="1226819"/>
            <a:ext cx="2721285" cy="1356360"/>
          </a:xfrm>
        </p:spPr>
        <p:txBody>
          <a:bodyPr>
            <a:normAutofit/>
          </a:bodyPr>
          <a:lstStyle/>
          <a:p>
            <a:r>
              <a:rPr lang="en-US" sz="3200" dirty="0"/>
              <a:t>MySQL Data Types</a:t>
            </a:r>
            <a:endParaRPr lang="en-PK" sz="3200" dirty="0"/>
          </a:p>
        </p:txBody>
      </p:sp>
      <p:sp>
        <p:nvSpPr>
          <p:cNvPr id="3" name="Content Placeholder 2">
            <a:extLst>
              <a:ext uri="{FF2B5EF4-FFF2-40B4-BE49-F238E27FC236}">
                <a16:creationId xmlns:a16="http://schemas.microsoft.com/office/drawing/2014/main" id="{E5AFE8E7-32FE-03FF-4BE6-7619ADC69D2E}"/>
              </a:ext>
            </a:extLst>
          </p:cNvPr>
          <p:cNvSpPr>
            <a:spLocks noGrp="1"/>
          </p:cNvSpPr>
          <p:nvPr>
            <p:ph idx="1"/>
          </p:nvPr>
        </p:nvSpPr>
        <p:spPr>
          <a:xfrm>
            <a:off x="231140" y="2583179"/>
            <a:ext cx="3074276" cy="4038600"/>
          </a:xfrm>
        </p:spPr>
        <p:txBody>
          <a:bodyPr>
            <a:normAutofit/>
          </a:bodyPr>
          <a:lstStyle/>
          <a:p>
            <a:r>
              <a:rPr lang="en-US" sz="1600" dirty="0"/>
              <a:t>Numeric datatypes</a:t>
            </a:r>
            <a:endParaRPr lang="en-PK" sz="1600" dirty="0"/>
          </a:p>
        </p:txBody>
      </p:sp>
      <p:pic>
        <p:nvPicPr>
          <p:cNvPr id="6" name="Picture 5">
            <a:extLst>
              <a:ext uri="{FF2B5EF4-FFF2-40B4-BE49-F238E27FC236}">
                <a16:creationId xmlns:a16="http://schemas.microsoft.com/office/drawing/2014/main" id="{8746CDF7-F14F-20B8-1338-1B261B68CBB4}"/>
              </a:ext>
            </a:extLst>
          </p:cNvPr>
          <p:cNvPicPr>
            <a:picLocks noChangeAspect="1"/>
          </p:cNvPicPr>
          <p:nvPr/>
        </p:nvPicPr>
        <p:blipFill>
          <a:blip r:embed="rId2"/>
          <a:stretch>
            <a:fillRect/>
          </a:stretch>
        </p:blipFill>
        <p:spPr>
          <a:xfrm>
            <a:off x="3466592" y="0"/>
            <a:ext cx="8725408" cy="6868514"/>
          </a:xfrm>
          <a:prstGeom prst="rect">
            <a:avLst/>
          </a:prstGeom>
        </p:spPr>
      </p:pic>
    </p:spTree>
    <p:extLst>
      <p:ext uri="{BB962C8B-B14F-4D97-AF65-F5344CB8AC3E}">
        <p14:creationId xmlns:p14="http://schemas.microsoft.com/office/powerpoint/2010/main" val="246374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61515EA8-E2A8-BCD2-9059-D31807D40AB4}"/>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79CBD3C9-4E66-426D-948E-7CF477810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32" name="Rectangle 31">
            <a:extLst>
              <a:ext uri="{FF2B5EF4-FFF2-40B4-BE49-F238E27FC236}">
                <a16:creationId xmlns:a16="http://schemas.microsoft.com/office/drawing/2014/main" id="{DDB95FCF-AD96-482F-9FB8-CD95725E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34" name="Straight Connector 33">
            <a:extLst>
              <a:ext uri="{FF2B5EF4-FFF2-40B4-BE49-F238E27FC236}">
                <a16:creationId xmlns:a16="http://schemas.microsoft.com/office/drawing/2014/main" id="{64EEEC00-AD80-4734-BEE6-04CBDEC83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C6896D1-BFB1-4C84-82DD-31073BED3F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5462458"/>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DC744F6-F965-EACF-A80A-C21553B52747}"/>
              </a:ext>
            </a:extLst>
          </p:cNvPr>
          <p:cNvSpPr>
            <a:spLocks noGrp="1"/>
          </p:cNvSpPr>
          <p:nvPr>
            <p:ph type="title"/>
          </p:nvPr>
        </p:nvSpPr>
        <p:spPr>
          <a:xfrm>
            <a:off x="1109980" y="4208424"/>
            <a:ext cx="9966960" cy="1325880"/>
          </a:xfrm>
        </p:spPr>
        <p:txBody>
          <a:bodyPr vert="horz" lIns="91440" tIns="45720" rIns="91440" bIns="45720" rtlCol="0" anchor="b">
            <a:normAutofit/>
          </a:bodyPr>
          <a:lstStyle/>
          <a:p>
            <a:pPr algn="ctr">
              <a:lnSpc>
                <a:spcPct val="85000"/>
              </a:lnSpc>
            </a:pPr>
            <a:r>
              <a:rPr lang="en-US" sz="6600" b="1" cap="all" dirty="0">
                <a:solidFill>
                  <a:srgbClr val="FFFFFF"/>
                </a:solidFill>
                <a:latin typeface="+mj-lt"/>
                <a:cs typeface="+mj-cs"/>
              </a:rPr>
              <a:t>MySQL Data Types</a:t>
            </a:r>
          </a:p>
        </p:txBody>
      </p:sp>
      <p:sp>
        <p:nvSpPr>
          <p:cNvPr id="3" name="Content Placeholder 2">
            <a:extLst>
              <a:ext uri="{FF2B5EF4-FFF2-40B4-BE49-F238E27FC236}">
                <a16:creationId xmlns:a16="http://schemas.microsoft.com/office/drawing/2014/main" id="{38E400EE-DF95-009A-DA2C-8913E1607CBE}"/>
              </a:ext>
            </a:extLst>
          </p:cNvPr>
          <p:cNvSpPr>
            <a:spLocks noGrp="1"/>
          </p:cNvSpPr>
          <p:nvPr>
            <p:ph idx="1"/>
          </p:nvPr>
        </p:nvSpPr>
        <p:spPr>
          <a:xfrm>
            <a:off x="1709530" y="5598293"/>
            <a:ext cx="8767860" cy="553690"/>
          </a:xfrm>
        </p:spPr>
        <p:txBody>
          <a:bodyPr vert="horz" lIns="91440" tIns="45720" rIns="91440" bIns="45720" rtlCol="0">
            <a:normAutofit/>
          </a:bodyPr>
          <a:lstStyle/>
          <a:p>
            <a:pPr marL="0" indent="0" algn="ctr">
              <a:buNone/>
            </a:pPr>
            <a:r>
              <a:rPr lang="en-US" sz="2000" dirty="0">
                <a:solidFill>
                  <a:srgbClr val="FFFFFF"/>
                </a:solidFill>
                <a:latin typeface="+mn-lt"/>
                <a:cs typeface="+mn-cs"/>
              </a:rPr>
              <a:t>Date and Time datatypes</a:t>
            </a:r>
          </a:p>
        </p:txBody>
      </p:sp>
      <p:sp>
        <p:nvSpPr>
          <p:cNvPr id="38" name="Rectangle 37">
            <a:extLst>
              <a:ext uri="{FF2B5EF4-FFF2-40B4-BE49-F238E27FC236}">
                <a16:creationId xmlns:a16="http://schemas.microsoft.com/office/drawing/2014/main" id="{8A2FDFB1-2B6D-49EB-B6C0-FA923806E0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1"/>
            <a:ext cx="11722100" cy="3964584"/>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pic>
        <p:nvPicPr>
          <p:cNvPr id="5" name="Picture 4">
            <a:extLst>
              <a:ext uri="{FF2B5EF4-FFF2-40B4-BE49-F238E27FC236}">
                <a16:creationId xmlns:a16="http://schemas.microsoft.com/office/drawing/2014/main" id="{0811F95A-2F6D-2EEC-B31D-12D08C4E58F7}"/>
              </a:ext>
            </a:extLst>
          </p:cNvPr>
          <p:cNvPicPr>
            <a:picLocks noChangeAspect="1"/>
          </p:cNvPicPr>
          <p:nvPr/>
        </p:nvPicPr>
        <p:blipFill>
          <a:blip r:embed="rId2"/>
          <a:srcRect t="-397" r="1" b="708"/>
          <a:stretch/>
        </p:blipFill>
        <p:spPr>
          <a:xfrm>
            <a:off x="236220" y="0"/>
            <a:ext cx="11730194" cy="4272412"/>
          </a:xfrm>
          <a:prstGeom prst="rect">
            <a:avLst/>
          </a:prstGeom>
        </p:spPr>
      </p:pic>
    </p:spTree>
    <p:extLst>
      <p:ext uri="{BB962C8B-B14F-4D97-AF65-F5344CB8AC3E}">
        <p14:creationId xmlns:p14="http://schemas.microsoft.com/office/powerpoint/2010/main" val="690725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086532B-5A3E-44A5-A0C2-22A0DB316C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1CF036CA-DC67-4AD0-D4F6-560D02975F72}"/>
              </a:ext>
            </a:extLst>
          </p:cNvPr>
          <p:cNvSpPr>
            <a:spLocks noGrp="1"/>
          </p:cNvSpPr>
          <p:nvPr>
            <p:ph type="title"/>
          </p:nvPr>
        </p:nvSpPr>
        <p:spPr>
          <a:xfrm>
            <a:off x="707064" y="609600"/>
            <a:ext cx="6993914" cy="1356360"/>
          </a:xfrm>
        </p:spPr>
        <p:txBody>
          <a:bodyPr>
            <a:normAutofit/>
          </a:bodyPr>
          <a:lstStyle/>
          <a:p>
            <a:r>
              <a:rPr lang="en-US" dirty="0"/>
              <a:t>ALTER Statements</a:t>
            </a:r>
            <a:endParaRPr lang="en-PK" dirty="0"/>
          </a:p>
        </p:txBody>
      </p:sp>
      <p:sp>
        <p:nvSpPr>
          <p:cNvPr id="3" name="Content Placeholder 2">
            <a:extLst>
              <a:ext uri="{FF2B5EF4-FFF2-40B4-BE49-F238E27FC236}">
                <a16:creationId xmlns:a16="http://schemas.microsoft.com/office/drawing/2014/main" id="{C8BA6476-E043-F042-0CB3-F2042467F55D}"/>
              </a:ext>
            </a:extLst>
          </p:cNvPr>
          <p:cNvSpPr>
            <a:spLocks noGrp="1"/>
          </p:cNvSpPr>
          <p:nvPr>
            <p:ph idx="1"/>
          </p:nvPr>
        </p:nvSpPr>
        <p:spPr>
          <a:xfrm>
            <a:off x="707064" y="2057400"/>
            <a:ext cx="6993914" cy="4038600"/>
          </a:xfrm>
        </p:spPr>
        <p:txBody>
          <a:bodyPr>
            <a:normAutofit/>
          </a:bodyPr>
          <a:lstStyle/>
          <a:p>
            <a:r>
              <a:rPr lang="en-US" dirty="0"/>
              <a:t>The ALTER statement is used to modify the structure of an existing table, such as adding, deleting, or modifying columns.</a:t>
            </a:r>
          </a:p>
          <a:p>
            <a:endParaRPr lang="en-US" dirty="0"/>
          </a:p>
          <a:p>
            <a:endParaRPr lang="en-US" dirty="0"/>
          </a:p>
          <a:p>
            <a:r>
              <a:rPr lang="en-US" dirty="0"/>
              <a:t>This adds a new column named </a:t>
            </a:r>
            <a:r>
              <a:rPr lang="en-US" i="1" dirty="0" err="1"/>
              <a:t>PhoneNumber</a:t>
            </a:r>
            <a:r>
              <a:rPr lang="en-US" i="1" dirty="0"/>
              <a:t> </a:t>
            </a:r>
            <a:r>
              <a:rPr lang="en-US" dirty="0"/>
              <a:t>to the Customers table.</a:t>
            </a:r>
          </a:p>
        </p:txBody>
      </p:sp>
      <p:pic>
        <p:nvPicPr>
          <p:cNvPr id="5" name="Picture 4">
            <a:extLst>
              <a:ext uri="{FF2B5EF4-FFF2-40B4-BE49-F238E27FC236}">
                <a16:creationId xmlns:a16="http://schemas.microsoft.com/office/drawing/2014/main" id="{8757A21F-BC28-19B3-EB1B-C162D8D81818}"/>
              </a:ext>
            </a:extLst>
          </p:cNvPr>
          <p:cNvPicPr>
            <a:picLocks noChangeAspect="1"/>
          </p:cNvPicPr>
          <p:nvPr/>
        </p:nvPicPr>
        <p:blipFill>
          <a:blip r:embed="rId2"/>
          <a:stretch>
            <a:fillRect/>
          </a:stretch>
        </p:blipFill>
        <p:spPr>
          <a:xfrm>
            <a:off x="7835796" y="1321201"/>
            <a:ext cx="3985165" cy="4215598"/>
          </a:xfrm>
          <a:prstGeom prst="rect">
            <a:avLst/>
          </a:prstGeom>
        </p:spPr>
      </p:pic>
    </p:spTree>
    <p:extLst>
      <p:ext uri="{BB962C8B-B14F-4D97-AF65-F5344CB8AC3E}">
        <p14:creationId xmlns:p14="http://schemas.microsoft.com/office/powerpoint/2010/main" val="2401590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6D0B8-1E34-1270-3201-508F568C83F9}"/>
              </a:ext>
            </a:extLst>
          </p:cNvPr>
          <p:cNvSpPr>
            <a:spLocks noGrp="1"/>
          </p:cNvSpPr>
          <p:nvPr>
            <p:ph type="title"/>
          </p:nvPr>
        </p:nvSpPr>
        <p:spPr/>
        <p:txBody>
          <a:bodyPr/>
          <a:lstStyle/>
          <a:p>
            <a:r>
              <a:rPr lang="en-US" dirty="0"/>
              <a:t>ALTER Statements</a:t>
            </a:r>
            <a:endParaRPr lang="en-PK" dirty="0"/>
          </a:p>
        </p:txBody>
      </p:sp>
      <p:sp>
        <p:nvSpPr>
          <p:cNvPr id="7" name="Content Placeholder 6">
            <a:extLst>
              <a:ext uri="{FF2B5EF4-FFF2-40B4-BE49-F238E27FC236}">
                <a16:creationId xmlns:a16="http://schemas.microsoft.com/office/drawing/2014/main" id="{7E2147E1-663C-DB49-544C-9349A88CC47F}"/>
              </a:ext>
            </a:extLst>
          </p:cNvPr>
          <p:cNvSpPr>
            <a:spLocks noGrp="1"/>
          </p:cNvSpPr>
          <p:nvPr>
            <p:ph idx="1"/>
          </p:nvPr>
        </p:nvSpPr>
        <p:spPr/>
        <p:txBody>
          <a:bodyPr/>
          <a:lstStyle/>
          <a:p>
            <a:endParaRPr lang="en-PK"/>
          </a:p>
        </p:txBody>
      </p:sp>
      <p:pic>
        <p:nvPicPr>
          <p:cNvPr id="9" name="Picture 8">
            <a:extLst>
              <a:ext uri="{FF2B5EF4-FFF2-40B4-BE49-F238E27FC236}">
                <a16:creationId xmlns:a16="http://schemas.microsoft.com/office/drawing/2014/main" id="{F699B9B3-E34E-A702-431D-91E234EE73A5}"/>
              </a:ext>
            </a:extLst>
          </p:cNvPr>
          <p:cNvPicPr>
            <a:picLocks noChangeAspect="1"/>
          </p:cNvPicPr>
          <p:nvPr/>
        </p:nvPicPr>
        <p:blipFill>
          <a:blip r:embed="rId2"/>
          <a:stretch>
            <a:fillRect/>
          </a:stretch>
        </p:blipFill>
        <p:spPr>
          <a:xfrm>
            <a:off x="1987501" y="1780186"/>
            <a:ext cx="8231509" cy="4467281"/>
          </a:xfrm>
          <a:prstGeom prst="rect">
            <a:avLst/>
          </a:prstGeom>
        </p:spPr>
      </p:pic>
    </p:spTree>
    <p:extLst>
      <p:ext uri="{BB962C8B-B14F-4D97-AF65-F5344CB8AC3E}">
        <p14:creationId xmlns:p14="http://schemas.microsoft.com/office/powerpoint/2010/main" val="32024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57FB-6B93-1FC8-C35B-CC287D59FE28}"/>
              </a:ext>
            </a:extLst>
          </p:cNvPr>
          <p:cNvSpPr>
            <a:spLocks noGrp="1"/>
          </p:cNvSpPr>
          <p:nvPr>
            <p:ph type="title"/>
          </p:nvPr>
        </p:nvSpPr>
        <p:spPr/>
        <p:txBody>
          <a:bodyPr/>
          <a:lstStyle/>
          <a:p>
            <a:r>
              <a:rPr lang="en-US" dirty="0"/>
              <a:t>ALTER Statements</a:t>
            </a:r>
            <a:endParaRPr lang="en-PK" dirty="0"/>
          </a:p>
        </p:txBody>
      </p:sp>
      <p:sp>
        <p:nvSpPr>
          <p:cNvPr id="3" name="Content Placeholder 2">
            <a:extLst>
              <a:ext uri="{FF2B5EF4-FFF2-40B4-BE49-F238E27FC236}">
                <a16:creationId xmlns:a16="http://schemas.microsoft.com/office/drawing/2014/main" id="{553DE929-7886-C97A-0223-24284B5B4606}"/>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0822F661-8163-48E7-9671-2FA2B29532BC}"/>
              </a:ext>
            </a:extLst>
          </p:cNvPr>
          <p:cNvPicPr>
            <a:picLocks noChangeAspect="1"/>
          </p:cNvPicPr>
          <p:nvPr/>
        </p:nvPicPr>
        <p:blipFill>
          <a:blip r:embed="rId2"/>
          <a:stretch>
            <a:fillRect/>
          </a:stretch>
        </p:blipFill>
        <p:spPr>
          <a:xfrm>
            <a:off x="2293066" y="1676995"/>
            <a:ext cx="7605867" cy="4514007"/>
          </a:xfrm>
          <a:prstGeom prst="rect">
            <a:avLst/>
          </a:prstGeom>
        </p:spPr>
      </p:pic>
    </p:spTree>
    <p:extLst>
      <p:ext uri="{BB962C8B-B14F-4D97-AF65-F5344CB8AC3E}">
        <p14:creationId xmlns:p14="http://schemas.microsoft.com/office/powerpoint/2010/main" val="154745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31C44-DCE2-27D8-FA9F-AB96CDF5F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F8142-6E86-5C6C-DD31-080278316160}"/>
              </a:ext>
            </a:extLst>
          </p:cNvPr>
          <p:cNvSpPr>
            <a:spLocks noGrp="1"/>
          </p:cNvSpPr>
          <p:nvPr>
            <p:ph type="title"/>
          </p:nvPr>
        </p:nvSpPr>
        <p:spPr/>
        <p:txBody>
          <a:bodyPr/>
          <a:lstStyle/>
          <a:p>
            <a:r>
              <a:rPr lang="en-US" dirty="0"/>
              <a:t>MySQL Constraints</a:t>
            </a:r>
            <a:endParaRPr lang="en-PK" dirty="0"/>
          </a:p>
        </p:txBody>
      </p:sp>
      <p:sp>
        <p:nvSpPr>
          <p:cNvPr id="3" name="Content Placeholder 2">
            <a:extLst>
              <a:ext uri="{FF2B5EF4-FFF2-40B4-BE49-F238E27FC236}">
                <a16:creationId xmlns:a16="http://schemas.microsoft.com/office/drawing/2014/main" id="{15DBC7CA-8925-3FD6-F0D2-2D90E7A6C996}"/>
              </a:ext>
            </a:extLst>
          </p:cNvPr>
          <p:cNvSpPr>
            <a:spLocks noGrp="1"/>
          </p:cNvSpPr>
          <p:nvPr>
            <p:ph idx="1"/>
          </p:nvPr>
        </p:nvSpPr>
        <p:spPr/>
        <p:txBody>
          <a:bodyPr/>
          <a:lstStyle/>
          <a:p>
            <a:r>
              <a:rPr lang="en-US" dirty="0"/>
              <a:t>SQL constraints are used to specify rules for data in a table.</a:t>
            </a:r>
          </a:p>
          <a:p>
            <a:r>
              <a:rPr lang="en-US" dirty="0"/>
              <a:t>Constraints can be specified when the table is created with the CREATE TABLE statement, or after the table is created with the ALTER TABLE statement.</a:t>
            </a:r>
          </a:p>
          <a:p>
            <a:r>
              <a:rPr lang="en-US" dirty="0"/>
              <a:t>This ensures the accuracy and reliability of the data in the table. If there is any violation between the constraint and the data action, the action is aborted.</a:t>
            </a:r>
          </a:p>
          <a:p>
            <a:r>
              <a:rPr lang="en-US" dirty="0"/>
              <a:t>Constraints can be column level or table level. Column level constraints apply to a column, and table level constraints apply to the whole table.</a:t>
            </a:r>
          </a:p>
          <a:p>
            <a:endParaRPr lang="en-PK" dirty="0"/>
          </a:p>
        </p:txBody>
      </p:sp>
    </p:spTree>
    <p:extLst>
      <p:ext uri="{BB962C8B-B14F-4D97-AF65-F5344CB8AC3E}">
        <p14:creationId xmlns:p14="http://schemas.microsoft.com/office/powerpoint/2010/main" val="3688872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84AD5-3691-AC88-BD79-7EBEFF16E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98980C-885A-F789-EE84-855FE584E2B8}"/>
              </a:ext>
            </a:extLst>
          </p:cNvPr>
          <p:cNvSpPr>
            <a:spLocks noGrp="1"/>
          </p:cNvSpPr>
          <p:nvPr>
            <p:ph type="title"/>
          </p:nvPr>
        </p:nvSpPr>
        <p:spPr/>
        <p:txBody>
          <a:bodyPr/>
          <a:lstStyle/>
          <a:p>
            <a:r>
              <a:rPr lang="en-US" dirty="0"/>
              <a:t>MySQL Constraints</a:t>
            </a:r>
            <a:endParaRPr lang="en-PK" dirty="0"/>
          </a:p>
        </p:txBody>
      </p:sp>
      <p:sp>
        <p:nvSpPr>
          <p:cNvPr id="3" name="Content Placeholder 2">
            <a:extLst>
              <a:ext uri="{FF2B5EF4-FFF2-40B4-BE49-F238E27FC236}">
                <a16:creationId xmlns:a16="http://schemas.microsoft.com/office/drawing/2014/main" id="{B3CFCDF1-59CD-8F14-31C0-B2E94E323469}"/>
              </a:ext>
            </a:extLst>
          </p:cNvPr>
          <p:cNvSpPr>
            <a:spLocks noGrp="1"/>
          </p:cNvSpPr>
          <p:nvPr>
            <p:ph idx="1"/>
          </p:nvPr>
        </p:nvSpPr>
        <p:spPr/>
        <p:txBody>
          <a:bodyPr>
            <a:normAutofit/>
          </a:bodyPr>
          <a:lstStyle/>
          <a:p>
            <a:r>
              <a:rPr lang="en-US" dirty="0"/>
              <a:t>The following constraints are commonly used in SQL:</a:t>
            </a:r>
          </a:p>
          <a:p>
            <a:pPr lvl="1"/>
            <a:r>
              <a:rPr lang="en-US" dirty="0"/>
              <a:t>NOT NULL - Ensures that a column cannot have a NULL value</a:t>
            </a:r>
          </a:p>
          <a:p>
            <a:pPr lvl="1"/>
            <a:r>
              <a:rPr lang="en-US" dirty="0"/>
              <a:t>UNIQUE - Ensures that all values in a column are different</a:t>
            </a:r>
          </a:p>
          <a:p>
            <a:pPr lvl="1"/>
            <a:r>
              <a:rPr lang="en-US" dirty="0"/>
              <a:t>PRIMARY KEY - A combination of a NOT NULL and UNIQUE. Uniquely identifies each row in a table</a:t>
            </a:r>
          </a:p>
          <a:p>
            <a:pPr lvl="1"/>
            <a:r>
              <a:rPr lang="en-US" dirty="0"/>
              <a:t>FOREIGN KEY - Prevents actions that would destroy links between tables</a:t>
            </a:r>
          </a:p>
          <a:p>
            <a:pPr lvl="1"/>
            <a:r>
              <a:rPr lang="en-US" dirty="0"/>
              <a:t>CHECK - Ensures that the values in a column satisfies a specific condition</a:t>
            </a:r>
          </a:p>
          <a:p>
            <a:pPr lvl="1"/>
            <a:r>
              <a:rPr lang="en-US" dirty="0"/>
              <a:t>DEFAULT - Sets a default value for a column if no value is specified</a:t>
            </a:r>
          </a:p>
          <a:p>
            <a:pPr lvl="1"/>
            <a:r>
              <a:rPr lang="en-US" dirty="0"/>
              <a:t>CREATE INDEX - Used to create and retrieve data from the database very quickly</a:t>
            </a:r>
            <a:endParaRPr lang="en-PK" dirty="0"/>
          </a:p>
        </p:txBody>
      </p:sp>
    </p:spTree>
    <p:extLst>
      <p:ext uri="{BB962C8B-B14F-4D97-AF65-F5344CB8AC3E}">
        <p14:creationId xmlns:p14="http://schemas.microsoft.com/office/powerpoint/2010/main" val="347846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B70ED84E-1C1B-42E8-E6C1-D61FEE3BA9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CA714-90B0-56C4-DCBA-822C3F43D396}"/>
              </a:ext>
            </a:extLst>
          </p:cNvPr>
          <p:cNvSpPr>
            <a:spLocks noGrp="1"/>
          </p:cNvSpPr>
          <p:nvPr>
            <p:ph type="title"/>
          </p:nvPr>
        </p:nvSpPr>
        <p:spPr>
          <a:xfrm>
            <a:off x="1143000" y="609600"/>
            <a:ext cx="6693061" cy="1356360"/>
          </a:xfrm>
        </p:spPr>
        <p:txBody>
          <a:bodyPr>
            <a:normAutofit/>
          </a:bodyPr>
          <a:lstStyle/>
          <a:p>
            <a:r>
              <a:rPr lang="en-US" dirty="0"/>
              <a:t>MySQL Constraints</a:t>
            </a:r>
            <a:endParaRPr lang="en-PK" dirty="0"/>
          </a:p>
        </p:txBody>
      </p:sp>
      <p:sp>
        <p:nvSpPr>
          <p:cNvPr id="3" name="Content Placeholder 2">
            <a:extLst>
              <a:ext uri="{FF2B5EF4-FFF2-40B4-BE49-F238E27FC236}">
                <a16:creationId xmlns:a16="http://schemas.microsoft.com/office/drawing/2014/main" id="{4B5483C0-3D5E-B229-8BBD-51FEFD3C5140}"/>
              </a:ext>
            </a:extLst>
          </p:cNvPr>
          <p:cNvSpPr>
            <a:spLocks noGrp="1"/>
          </p:cNvSpPr>
          <p:nvPr>
            <p:ph idx="1"/>
          </p:nvPr>
        </p:nvSpPr>
        <p:spPr>
          <a:xfrm>
            <a:off x="1143000" y="2057400"/>
            <a:ext cx="6693061" cy="4038600"/>
          </a:xfrm>
        </p:spPr>
        <p:txBody>
          <a:bodyPr>
            <a:normAutofit/>
          </a:bodyPr>
          <a:lstStyle/>
          <a:p>
            <a:r>
              <a:rPr lang="en-US" sz="1700"/>
              <a:t>MySQL NOT NULL Constraint</a:t>
            </a:r>
          </a:p>
          <a:p>
            <a:r>
              <a:rPr lang="en-US" sz="1700"/>
              <a:t>By default, a column can hold NULL values.</a:t>
            </a:r>
          </a:p>
          <a:p>
            <a:r>
              <a:rPr lang="en-US" sz="1700"/>
              <a:t>The NOT NULL constraint enforces a column to NOT accept NULL values.</a:t>
            </a:r>
          </a:p>
          <a:p>
            <a:r>
              <a:rPr lang="en-US" sz="1700" b="1"/>
              <a:t>NOT NULL on CREATE TABLE</a:t>
            </a:r>
          </a:p>
          <a:p>
            <a:r>
              <a:rPr lang="en-US" sz="1700"/>
              <a:t>The following SQL ensures that the "ID", "</a:t>
            </a:r>
            <a:r>
              <a:rPr lang="en-US" sz="1700" err="1"/>
              <a:t>LastName</a:t>
            </a:r>
            <a:r>
              <a:rPr lang="en-US" sz="1700"/>
              <a:t>", and "FirstName" columns will NOT accept NULL values when the "Persons" table is created:</a:t>
            </a:r>
          </a:p>
          <a:p>
            <a:r>
              <a:rPr lang="en-US" sz="1700" b="1"/>
              <a:t>NOT NULL on ALTER TABLE</a:t>
            </a:r>
          </a:p>
          <a:p>
            <a:r>
              <a:rPr lang="en-US" sz="1700"/>
              <a:t>To create a NOT NULL constraint on the "Age" column when the "Persons" table is already created, use the following SQL:</a:t>
            </a:r>
            <a:endParaRPr lang="en-PK" sz="1700"/>
          </a:p>
        </p:txBody>
      </p:sp>
      <p:pic>
        <p:nvPicPr>
          <p:cNvPr id="9" name="Picture 8" descr="A close-up of a computer screen&#10;&#10;Description automatically generated">
            <a:extLst>
              <a:ext uri="{FF2B5EF4-FFF2-40B4-BE49-F238E27FC236}">
                <a16:creationId xmlns:a16="http://schemas.microsoft.com/office/drawing/2014/main" id="{F9EAC2E1-58AF-839A-A7D0-D85991AEE06B}"/>
              </a:ext>
            </a:extLst>
          </p:cNvPr>
          <p:cNvPicPr>
            <a:picLocks noChangeAspect="1"/>
          </p:cNvPicPr>
          <p:nvPr/>
        </p:nvPicPr>
        <p:blipFill>
          <a:blip r:embed="rId2"/>
          <a:stretch>
            <a:fillRect/>
          </a:stretch>
        </p:blipFill>
        <p:spPr>
          <a:xfrm>
            <a:off x="8310623" y="4683449"/>
            <a:ext cx="3584848" cy="1876443"/>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A0DC417C-D65A-C5C5-1E8F-C9F6298750AA}"/>
              </a:ext>
            </a:extLst>
          </p:cNvPr>
          <p:cNvPicPr>
            <a:picLocks noChangeAspect="1"/>
          </p:cNvPicPr>
          <p:nvPr/>
        </p:nvPicPr>
        <p:blipFill>
          <a:blip r:embed="rId3"/>
          <a:stretch>
            <a:fillRect/>
          </a:stretch>
        </p:blipFill>
        <p:spPr>
          <a:xfrm>
            <a:off x="8310623" y="2327803"/>
            <a:ext cx="3584848" cy="2202393"/>
          </a:xfrm>
          <a:prstGeom prst="rect">
            <a:avLst/>
          </a:prstGeom>
        </p:spPr>
      </p:pic>
    </p:spTree>
    <p:extLst>
      <p:ext uri="{BB962C8B-B14F-4D97-AF65-F5344CB8AC3E}">
        <p14:creationId xmlns:p14="http://schemas.microsoft.com/office/powerpoint/2010/main" val="139850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234EA53C-E897-F4B6-B176-EC87469C52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A5FDBD-6CA8-D1F6-E002-3C8AEDC9011A}"/>
              </a:ext>
            </a:extLst>
          </p:cNvPr>
          <p:cNvSpPr>
            <a:spLocks noGrp="1"/>
          </p:cNvSpPr>
          <p:nvPr>
            <p:ph type="title"/>
          </p:nvPr>
        </p:nvSpPr>
        <p:spPr>
          <a:xfrm>
            <a:off x="1143000" y="609600"/>
            <a:ext cx="6693061" cy="1356360"/>
          </a:xfrm>
        </p:spPr>
        <p:txBody>
          <a:bodyPr>
            <a:normAutofit/>
          </a:bodyPr>
          <a:lstStyle/>
          <a:p>
            <a:r>
              <a:rPr lang="en-US" dirty="0"/>
              <a:t>MySQL Constraints</a:t>
            </a:r>
            <a:endParaRPr lang="en-PK" dirty="0"/>
          </a:p>
        </p:txBody>
      </p:sp>
      <p:sp>
        <p:nvSpPr>
          <p:cNvPr id="3" name="Content Placeholder 2">
            <a:extLst>
              <a:ext uri="{FF2B5EF4-FFF2-40B4-BE49-F238E27FC236}">
                <a16:creationId xmlns:a16="http://schemas.microsoft.com/office/drawing/2014/main" id="{B8CB2A09-E042-A0C2-C23E-92A6A060E04B}"/>
              </a:ext>
            </a:extLst>
          </p:cNvPr>
          <p:cNvSpPr>
            <a:spLocks noGrp="1"/>
          </p:cNvSpPr>
          <p:nvPr>
            <p:ph idx="1"/>
          </p:nvPr>
        </p:nvSpPr>
        <p:spPr>
          <a:xfrm>
            <a:off x="1143001" y="2057400"/>
            <a:ext cx="6564086" cy="4038600"/>
          </a:xfrm>
        </p:spPr>
        <p:txBody>
          <a:bodyPr>
            <a:normAutofit lnSpcReduction="10000"/>
          </a:bodyPr>
          <a:lstStyle/>
          <a:p>
            <a:r>
              <a:rPr lang="en-US" sz="1700" b="1" dirty="0"/>
              <a:t>MySQL DEFAULT Constraint</a:t>
            </a:r>
          </a:p>
          <a:p>
            <a:r>
              <a:rPr lang="en-US" sz="1700" dirty="0"/>
              <a:t>The DEFAULT constraint is used to set a default value for a column.</a:t>
            </a:r>
          </a:p>
          <a:p>
            <a:r>
              <a:rPr lang="en-US" sz="1700" dirty="0"/>
              <a:t>The default value will be added to all new records, if no other value is specified.</a:t>
            </a:r>
          </a:p>
          <a:p>
            <a:r>
              <a:rPr lang="en-US" sz="1700" b="1" dirty="0"/>
              <a:t>DEFAULT on CREATE TABLE</a:t>
            </a:r>
          </a:p>
          <a:p>
            <a:r>
              <a:rPr lang="en-US" sz="1700" dirty="0"/>
              <a:t>The following SQL sets a DEFAULT value for the "City" column when the "Persons" table is created:</a:t>
            </a:r>
          </a:p>
          <a:p>
            <a:r>
              <a:rPr lang="en-US" sz="1700" b="1" dirty="0"/>
              <a:t>DEFAULT on ALTER TABLE</a:t>
            </a:r>
          </a:p>
          <a:p>
            <a:r>
              <a:rPr lang="en-US" sz="1700" dirty="0"/>
              <a:t>To create a DEFAULT constraint on the "City" column when the table is already created, use the following SQL:</a:t>
            </a:r>
          </a:p>
          <a:p>
            <a:r>
              <a:rPr lang="en-US" sz="1700" dirty="0">
                <a:hlinkClick r:id="rId2"/>
              </a:rPr>
              <a:t>More examples…</a:t>
            </a:r>
            <a:endParaRPr lang="en-PK" sz="1700" dirty="0"/>
          </a:p>
        </p:txBody>
      </p:sp>
      <p:pic>
        <p:nvPicPr>
          <p:cNvPr id="8" name="Picture 7">
            <a:extLst>
              <a:ext uri="{FF2B5EF4-FFF2-40B4-BE49-F238E27FC236}">
                <a16:creationId xmlns:a16="http://schemas.microsoft.com/office/drawing/2014/main" id="{1FCE819D-F099-9074-4143-0E9C6010F536}"/>
              </a:ext>
            </a:extLst>
          </p:cNvPr>
          <p:cNvPicPr>
            <a:picLocks noChangeAspect="1"/>
          </p:cNvPicPr>
          <p:nvPr/>
        </p:nvPicPr>
        <p:blipFill>
          <a:blip r:embed="rId3"/>
          <a:stretch>
            <a:fillRect/>
          </a:stretch>
        </p:blipFill>
        <p:spPr>
          <a:xfrm>
            <a:off x="7836061" y="1825851"/>
            <a:ext cx="4017693" cy="2156214"/>
          </a:xfrm>
          <a:prstGeom prst="rect">
            <a:avLst/>
          </a:prstGeom>
        </p:spPr>
      </p:pic>
      <p:pic>
        <p:nvPicPr>
          <p:cNvPr id="11" name="Picture 10">
            <a:extLst>
              <a:ext uri="{FF2B5EF4-FFF2-40B4-BE49-F238E27FC236}">
                <a16:creationId xmlns:a16="http://schemas.microsoft.com/office/drawing/2014/main" id="{6EC29F90-AA33-534B-9366-F37479B9B522}"/>
              </a:ext>
            </a:extLst>
          </p:cNvPr>
          <p:cNvPicPr>
            <a:picLocks noChangeAspect="1"/>
          </p:cNvPicPr>
          <p:nvPr/>
        </p:nvPicPr>
        <p:blipFill>
          <a:blip r:embed="rId4"/>
          <a:stretch>
            <a:fillRect/>
          </a:stretch>
        </p:blipFill>
        <p:spPr>
          <a:xfrm>
            <a:off x="7836061" y="4529374"/>
            <a:ext cx="4017693" cy="1019317"/>
          </a:xfrm>
          <a:prstGeom prst="rect">
            <a:avLst/>
          </a:prstGeom>
        </p:spPr>
      </p:pic>
    </p:spTree>
    <p:extLst>
      <p:ext uri="{BB962C8B-B14F-4D97-AF65-F5344CB8AC3E}">
        <p14:creationId xmlns:p14="http://schemas.microsoft.com/office/powerpoint/2010/main" val="1596837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09C0BCD-BEE9-423F-A51C-BCCD8E5EA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2" name="Rectangle 11">
            <a:extLst>
              <a:ext uri="{FF2B5EF4-FFF2-40B4-BE49-F238E27FC236}">
                <a16:creationId xmlns:a16="http://schemas.microsoft.com/office/drawing/2014/main" id="{9998D094-42B2-42BA-AA14-E8FBE073A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14" name="Straight Connector 13">
            <a:extLst>
              <a:ext uri="{FF2B5EF4-FFF2-40B4-BE49-F238E27FC236}">
                <a16:creationId xmlns:a16="http://schemas.microsoft.com/office/drawing/2014/main" id="{8465D64B-59F4-4BDC-B833-A17EF1E046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3FE6F10-B3AD-4403-94CA-F51155286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useBgFill="1">
        <p:nvSpPr>
          <p:cNvPr id="18" name="Rectangle 17">
            <a:extLst>
              <a:ext uri="{FF2B5EF4-FFF2-40B4-BE49-F238E27FC236}">
                <a16:creationId xmlns:a16="http://schemas.microsoft.com/office/drawing/2014/main" id="{364D6A39-A4F7-4B00-9F42-3BC67177DB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20" name="Straight Connector 19">
            <a:extLst>
              <a:ext uri="{FF2B5EF4-FFF2-40B4-BE49-F238E27FC236}">
                <a16:creationId xmlns:a16="http://schemas.microsoft.com/office/drawing/2014/main" id="{13553ADF-88A1-4645-B819-890CA3DF7D5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B5D0D97D-7911-4A25-88E2-4D81FD4AB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AC92D774-1B77-E226-F200-F91FEC54E001}"/>
              </a:ext>
            </a:extLst>
          </p:cNvPr>
          <p:cNvSpPr>
            <a:spLocks noGrp="1"/>
          </p:cNvSpPr>
          <p:nvPr>
            <p:ph type="title"/>
          </p:nvPr>
        </p:nvSpPr>
        <p:spPr>
          <a:xfrm>
            <a:off x="8195138" y="857675"/>
            <a:ext cx="3113366" cy="3622844"/>
          </a:xfrm>
        </p:spPr>
        <p:txBody>
          <a:bodyPr vert="horz" lIns="91440" tIns="45720" rIns="91440" bIns="45720" rtlCol="0" anchor="b">
            <a:normAutofit/>
          </a:bodyPr>
          <a:lstStyle/>
          <a:p>
            <a:pPr algn="ctr">
              <a:lnSpc>
                <a:spcPct val="85000"/>
              </a:lnSpc>
            </a:pPr>
            <a:r>
              <a:rPr lang="en-US" sz="5400" b="1" cap="all">
                <a:solidFill>
                  <a:srgbClr val="FFFFFF"/>
                </a:solidFill>
                <a:latin typeface="+mj-lt"/>
                <a:cs typeface="+mj-cs"/>
              </a:rPr>
              <a:t>DROP</a:t>
            </a:r>
          </a:p>
        </p:txBody>
      </p:sp>
      <p:sp>
        <p:nvSpPr>
          <p:cNvPr id="3" name="Content Placeholder 2">
            <a:extLst>
              <a:ext uri="{FF2B5EF4-FFF2-40B4-BE49-F238E27FC236}">
                <a16:creationId xmlns:a16="http://schemas.microsoft.com/office/drawing/2014/main" id="{DA73A018-817E-53A9-46B4-B93D356A3E74}"/>
              </a:ext>
            </a:extLst>
          </p:cNvPr>
          <p:cNvSpPr>
            <a:spLocks noGrp="1"/>
          </p:cNvSpPr>
          <p:nvPr>
            <p:ph idx="1"/>
          </p:nvPr>
        </p:nvSpPr>
        <p:spPr>
          <a:xfrm>
            <a:off x="8210328" y="4541697"/>
            <a:ext cx="3082986" cy="1543422"/>
          </a:xfrm>
        </p:spPr>
        <p:txBody>
          <a:bodyPr vert="horz" lIns="91440" tIns="45720" rIns="91440" bIns="45720" rtlCol="0">
            <a:normAutofit/>
          </a:bodyPr>
          <a:lstStyle/>
          <a:p>
            <a:pPr marL="0" indent="0" algn="ctr">
              <a:buNone/>
            </a:pPr>
            <a:r>
              <a:rPr lang="en-US" sz="2000">
                <a:solidFill>
                  <a:srgbClr val="FFFFFF"/>
                </a:solidFill>
                <a:latin typeface="+mn-lt"/>
                <a:cs typeface="+mn-cs"/>
              </a:rPr>
              <a:t>The DROP statement is used to delete an existing database, table, or index.</a:t>
            </a:r>
          </a:p>
        </p:txBody>
      </p:sp>
      <p:pic>
        <p:nvPicPr>
          <p:cNvPr id="5" name="Picture 4" descr="A screenshot of a computer&#10;&#10;Description automatically generated">
            <a:extLst>
              <a:ext uri="{FF2B5EF4-FFF2-40B4-BE49-F238E27FC236}">
                <a16:creationId xmlns:a16="http://schemas.microsoft.com/office/drawing/2014/main" id="{A90B72BB-FA71-C23B-F0CA-32D3460C5B6E}"/>
              </a:ext>
            </a:extLst>
          </p:cNvPr>
          <p:cNvPicPr>
            <a:picLocks noChangeAspect="1"/>
          </p:cNvPicPr>
          <p:nvPr/>
        </p:nvPicPr>
        <p:blipFill>
          <a:blip r:embed="rId2"/>
          <a:srcRect r="-2" b="2978"/>
          <a:stretch/>
        </p:blipFill>
        <p:spPr>
          <a:xfrm>
            <a:off x="872064" y="857675"/>
            <a:ext cx="6045576" cy="5140669"/>
          </a:xfrm>
          <a:prstGeom prst="rect">
            <a:avLst/>
          </a:prstGeom>
        </p:spPr>
      </p:pic>
    </p:spTree>
    <p:extLst>
      <p:ext uri="{BB962C8B-B14F-4D97-AF65-F5344CB8AC3E}">
        <p14:creationId xmlns:p14="http://schemas.microsoft.com/office/powerpoint/2010/main" val="256309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5B7F-E1B4-884A-0B6F-D6BEBC33FD7E}"/>
              </a:ext>
            </a:extLst>
          </p:cNvPr>
          <p:cNvSpPr>
            <a:spLocks noGrp="1"/>
          </p:cNvSpPr>
          <p:nvPr>
            <p:ph type="title"/>
          </p:nvPr>
        </p:nvSpPr>
        <p:spPr/>
        <p:txBody>
          <a:bodyPr/>
          <a:lstStyle/>
          <a:p>
            <a:r>
              <a:rPr lang="en-US" dirty="0"/>
              <a:t>Drop Statements</a:t>
            </a:r>
            <a:endParaRPr lang="en-PK" dirty="0"/>
          </a:p>
        </p:txBody>
      </p:sp>
      <p:sp>
        <p:nvSpPr>
          <p:cNvPr id="3" name="Content Placeholder 2">
            <a:extLst>
              <a:ext uri="{FF2B5EF4-FFF2-40B4-BE49-F238E27FC236}">
                <a16:creationId xmlns:a16="http://schemas.microsoft.com/office/drawing/2014/main" id="{F339C5EA-6B8D-66FB-73DD-00DC770DFCF4}"/>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D70F2BD9-E93E-23C6-8885-0D681F2296E5}"/>
              </a:ext>
            </a:extLst>
          </p:cNvPr>
          <p:cNvPicPr>
            <a:picLocks noChangeAspect="1"/>
          </p:cNvPicPr>
          <p:nvPr/>
        </p:nvPicPr>
        <p:blipFill>
          <a:blip r:embed="rId2"/>
          <a:stretch>
            <a:fillRect/>
          </a:stretch>
        </p:blipFill>
        <p:spPr>
          <a:xfrm>
            <a:off x="3767394" y="1737601"/>
            <a:ext cx="4671724" cy="4495985"/>
          </a:xfrm>
          <a:prstGeom prst="rect">
            <a:avLst/>
          </a:prstGeom>
        </p:spPr>
      </p:pic>
    </p:spTree>
    <p:extLst>
      <p:ext uri="{BB962C8B-B14F-4D97-AF65-F5344CB8AC3E}">
        <p14:creationId xmlns:p14="http://schemas.microsoft.com/office/powerpoint/2010/main" val="1699300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86532B-5A3E-44A5-A0C2-22A0DB316C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C128AE37-383B-E726-58C5-79B55BD53619}"/>
              </a:ext>
            </a:extLst>
          </p:cNvPr>
          <p:cNvSpPr>
            <a:spLocks noGrp="1"/>
          </p:cNvSpPr>
          <p:nvPr>
            <p:ph type="title"/>
          </p:nvPr>
        </p:nvSpPr>
        <p:spPr>
          <a:xfrm>
            <a:off x="707064" y="609600"/>
            <a:ext cx="6993914" cy="1356360"/>
          </a:xfrm>
        </p:spPr>
        <p:txBody>
          <a:bodyPr>
            <a:normAutofit/>
          </a:bodyPr>
          <a:lstStyle/>
          <a:p>
            <a:r>
              <a:rPr lang="en-US" dirty="0"/>
              <a:t>Truncate Statements</a:t>
            </a:r>
            <a:endParaRPr lang="en-PK" dirty="0"/>
          </a:p>
        </p:txBody>
      </p:sp>
      <p:sp>
        <p:nvSpPr>
          <p:cNvPr id="3" name="Content Placeholder 2">
            <a:extLst>
              <a:ext uri="{FF2B5EF4-FFF2-40B4-BE49-F238E27FC236}">
                <a16:creationId xmlns:a16="http://schemas.microsoft.com/office/drawing/2014/main" id="{51D19B6B-DD50-E9E7-7951-EDE16B0657F6}"/>
              </a:ext>
            </a:extLst>
          </p:cNvPr>
          <p:cNvSpPr>
            <a:spLocks noGrp="1"/>
          </p:cNvSpPr>
          <p:nvPr>
            <p:ph idx="1"/>
          </p:nvPr>
        </p:nvSpPr>
        <p:spPr>
          <a:xfrm>
            <a:off x="707064" y="2057400"/>
            <a:ext cx="6993914" cy="4038600"/>
          </a:xfrm>
        </p:spPr>
        <p:txBody>
          <a:bodyPr>
            <a:normAutofit/>
          </a:bodyPr>
          <a:lstStyle/>
          <a:p>
            <a:r>
              <a:rPr lang="en-US" sz="1900" dirty="0"/>
              <a:t>The TRUNCATE statement is used to delete all rows from a table without deleting the table itself.</a:t>
            </a:r>
          </a:p>
          <a:p>
            <a:endParaRPr lang="en-US" sz="1900" dirty="0"/>
          </a:p>
          <a:p>
            <a:endParaRPr lang="en-US" sz="1900" dirty="0"/>
          </a:p>
          <a:p>
            <a:endParaRPr lang="en-US" sz="1900" dirty="0"/>
          </a:p>
          <a:p>
            <a:r>
              <a:rPr lang="en-US" sz="1900" dirty="0"/>
              <a:t>This removes all rows from the Customers table but keeps the table structure intact.</a:t>
            </a:r>
          </a:p>
        </p:txBody>
      </p:sp>
      <p:pic>
        <p:nvPicPr>
          <p:cNvPr id="5" name="Picture 4">
            <a:extLst>
              <a:ext uri="{FF2B5EF4-FFF2-40B4-BE49-F238E27FC236}">
                <a16:creationId xmlns:a16="http://schemas.microsoft.com/office/drawing/2014/main" id="{CDB484DD-5BEE-2040-2D5A-A3B47573AD74}"/>
              </a:ext>
            </a:extLst>
          </p:cNvPr>
          <p:cNvPicPr>
            <a:picLocks noChangeAspect="1"/>
          </p:cNvPicPr>
          <p:nvPr/>
        </p:nvPicPr>
        <p:blipFill>
          <a:blip r:embed="rId2"/>
          <a:stretch>
            <a:fillRect/>
          </a:stretch>
        </p:blipFill>
        <p:spPr>
          <a:xfrm>
            <a:off x="8185610" y="1511605"/>
            <a:ext cx="3575466" cy="3867339"/>
          </a:xfrm>
          <a:prstGeom prst="rect">
            <a:avLst/>
          </a:prstGeom>
        </p:spPr>
      </p:pic>
    </p:spTree>
    <p:extLst>
      <p:ext uri="{BB962C8B-B14F-4D97-AF65-F5344CB8AC3E}">
        <p14:creationId xmlns:p14="http://schemas.microsoft.com/office/powerpoint/2010/main" val="4096383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09C0BCD-BEE9-423F-A51C-BCCD8E5EA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2" name="Rectangle 11">
            <a:extLst>
              <a:ext uri="{FF2B5EF4-FFF2-40B4-BE49-F238E27FC236}">
                <a16:creationId xmlns:a16="http://schemas.microsoft.com/office/drawing/2014/main" id="{9998D094-42B2-42BA-AA14-E8FBE073A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14" name="Straight Connector 13">
            <a:extLst>
              <a:ext uri="{FF2B5EF4-FFF2-40B4-BE49-F238E27FC236}">
                <a16:creationId xmlns:a16="http://schemas.microsoft.com/office/drawing/2014/main" id="{8465D64B-59F4-4BDC-B833-A17EF1E046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3FE6F10-B3AD-4403-94CA-F51155286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useBgFill="1">
        <p:nvSpPr>
          <p:cNvPr id="18" name="Rectangle 17">
            <a:extLst>
              <a:ext uri="{FF2B5EF4-FFF2-40B4-BE49-F238E27FC236}">
                <a16:creationId xmlns:a16="http://schemas.microsoft.com/office/drawing/2014/main" id="{364D6A39-A4F7-4B00-9F42-3BC67177DB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20" name="Straight Connector 19">
            <a:extLst>
              <a:ext uri="{FF2B5EF4-FFF2-40B4-BE49-F238E27FC236}">
                <a16:creationId xmlns:a16="http://schemas.microsoft.com/office/drawing/2014/main" id="{13553ADF-88A1-4645-B819-890CA3DF7D5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B5D0D97D-7911-4A25-88E2-4D81FD4AB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BEF105DA-919E-D6AB-5A02-0B2389313710}"/>
              </a:ext>
            </a:extLst>
          </p:cNvPr>
          <p:cNvSpPr>
            <a:spLocks noGrp="1"/>
          </p:cNvSpPr>
          <p:nvPr>
            <p:ph type="title"/>
          </p:nvPr>
        </p:nvSpPr>
        <p:spPr>
          <a:xfrm>
            <a:off x="8195138" y="857675"/>
            <a:ext cx="3113366" cy="3622844"/>
          </a:xfrm>
        </p:spPr>
        <p:txBody>
          <a:bodyPr vert="horz" lIns="91440" tIns="45720" rIns="91440" bIns="45720" rtlCol="0" anchor="b">
            <a:normAutofit/>
          </a:bodyPr>
          <a:lstStyle/>
          <a:p>
            <a:pPr algn="ctr">
              <a:lnSpc>
                <a:spcPct val="85000"/>
              </a:lnSpc>
            </a:pPr>
            <a:r>
              <a:rPr lang="en-US" sz="3400" b="1" cap="all">
                <a:solidFill>
                  <a:srgbClr val="FFFFFF"/>
                </a:solidFill>
                <a:latin typeface="+mj-lt"/>
                <a:cs typeface="+mj-cs"/>
              </a:rPr>
              <a:t>RENAME Statements</a:t>
            </a:r>
          </a:p>
        </p:txBody>
      </p:sp>
      <p:sp>
        <p:nvSpPr>
          <p:cNvPr id="3" name="Content Placeholder 2">
            <a:extLst>
              <a:ext uri="{FF2B5EF4-FFF2-40B4-BE49-F238E27FC236}">
                <a16:creationId xmlns:a16="http://schemas.microsoft.com/office/drawing/2014/main" id="{4A2088D3-6147-EA08-F3BF-A1A0FFE71A37}"/>
              </a:ext>
            </a:extLst>
          </p:cNvPr>
          <p:cNvSpPr>
            <a:spLocks noGrp="1"/>
          </p:cNvSpPr>
          <p:nvPr>
            <p:ph idx="1"/>
          </p:nvPr>
        </p:nvSpPr>
        <p:spPr>
          <a:xfrm>
            <a:off x="8210328" y="4541697"/>
            <a:ext cx="3082986" cy="1543422"/>
          </a:xfrm>
        </p:spPr>
        <p:txBody>
          <a:bodyPr vert="horz" lIns="91440" tIns="45720" rIns="91440" bIns="45720" rtlCol="0">
            <a:normAutofit/>
          </a:bodyPr>
          <a:lstStyle/>
          <a:p>
            <a:pPr marL="0" indent="0" algn="ctr">
              <a:buNone/>
            </a:pPr>
            <a:r>
              <a:rPr lang="en-US" sz="2000">
                <a:solidFill>
                  <a:srgbClr val="FFFFFF"/>
                </a:solidFill>
                <a:latin typeface="+mn-lt"/>
                <a:cs typeface="+mn-cs"/>
              </a:rPr>
              <a:t>The RENAME statement is used to rename a table.</a:t>
            </a:r>
          </a:p>
        </p:txBody>
      </p:sp>
      <p:pic>
        <p:nvPicPr>
          <p:cNvPr id="5" name="Picture 4" descr="A screenshot of a computer&#10;&#10;Description automatically generated">
            <a:extLst>
              <a:ext uri="{FF2B5EF4-FFF2-40B4-BE49-F238E27FC236}">
                <a16:creationId xmlns:a16="http://schemas.microsoft.com/office/drawing/2014/main" id="{797D0701-4F9B-1E69-D5BE-1170FBA48951}"/>
              </a:ext>
            </a:extLst>
          </p:cNvPr>
          <p:cNvPicPr>
            <a:picLocks noChangeAspect="1"/>
          </p:cNvPicPr>
          <p:nvPr/>
        </p:nvPicPr>
        <p:blipFill>
          <a:blip r:embed="rId2"/>
          <a:srcRect l="-1915" t="-1" r="-3" b="-2"/>
          <a:stretch/>
        </p:blipFill>
        <p:spPr>
          <a:xfrm>
            <a:off x="236220" y="680244"/>
            <a:ext cx="7301533" cy="5511223"/>
          </a:xfrm>
          <a:prstGeom prst="rect">
            <a:avLst/>
          </a:prstGeom>
        </p:spPr>
      </p:pic>
    </p:spTree>
    <p:extLst>
      <p:ext uri="{BB962C8B-B14F-4D97-AF65-F5344CB8AC3E}">
        <p14:creationId xmlns:p14="http://schemas.microsoft.com/office/powerpoint/2010/main" val="3972467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A2EA6A6-CD0C-4CFD-8EC2-AA44F9870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FEAF3142-8CE6-25F6-625D-38808A50F64E}"/>
              </a:ext>
            </a:extLst>
          </p:cNvPr>
          <p:cNvSpPr>
            <a:spLocks noGrp="1"/>
          </p:cNvSpPr>
          <p:nvPr>
            <p:ph type="title"/>
          </p:nvPr>
        </p:nvSpPr>
        <p:spPr>
          <a:xfrm>
            <a:off x="7558564" y="609600"/>
            <a:ext cx="3912583" cy="1356360"/>
          </a:xfrm>
        </p:spPr>
        <p:txBody>
          <a:bodyPr>
            <a:normAutofit/>
          </a:bodyPr>
          <a:lstStyle/>
          <a:p>
            <a:r>
              <a:rPr lang="en-US" sz="3200"/>
              <a:t>CREATE INDEX</a:t>
            </a:r>
            <a:endParaRPr lang="en-PK" sz="3200"/>
          </a:p>
        </p:txBody>
      </p:sp>
      <p:pic>
        <p:nvPicPr>
          <p:cNvPr id="5" name="Picture 4">
            <a:extLst>
              <a:ext uri="{FF2B5EF4-FFF2-40B4-BE49-F238E27FC236}">
                <a16:creationId xmlns:a16="http://schemas.microsoft.com/office/drawing/2014/main" id="{4EB4B263-A95F-81E7-14FB-9F564ED789E0}"/>
              </a:ext>
            </a:extLst>
          </p:cNvPr>
          <p:cNvPicPr>
            <a:picLocks noChangeAspect="1"/>
          </p:cNvPicPr>
          <p:nvPr/>
        </p:nvPicPr>
        <p:blipFill>
          <a:blip r:embed="rId2"/>
          <a:stretch>
            <a:fillRect/>
          </a:stretch>
        </p:blipFill>
        <p:spPr>
          <a:xfrm>
            <a:off x="1444330" y="1229710"/>
            <a:ext cx="5776277" cy="4768634"/>
          </a:xfrm>
          <a:prstGeom prst="rect">
            <a:avLst/>
          </a:prstGeom>
        </p:spPr>
      </p:pic>
      <p:sp>
        <p:nvSpPr>
          <p:cNvPr id="3" name="Content Placeholder 2">
            <a:extLst>
              <a:ext uri="{FF2B5EF4-FFF2-40B4-BE49-F238E27FC236}">
                <a16:creationId xmlns:a16="http://schemas.microsoft.com/office/drawing/2014/main" id="{9431E353-61B5-EA81-9593-CDC27E9BF398}"/>
              </a:ext>
            </a:extLst>
          </p:cNvPr>
          <p:cNvSpPr>
            <a:spLocks noGrp="1"/>
          </p:cNvSpPr>
          <p:nvPr>
            <p:ph idx="1"/>
          </p:nvPr>
        </p:nvSpPr>
        <p:spPr>
          <a:xfrm>
            <a:off x="7558564" y="2057400"/>
            <a:ext cx="3912583" cy="4038600"/>
          </a:xfrm>
        </p:spPr>
        <p:txBody>
          <a:bodyPr>
            <a:normAutofit/>
          </a:bodyPr>
          <a:lstStyle/>
          <a:p>
            <a:r>
              <a:rPr lang="en-US" sz="1600" dirty="0"/>
              <a:t>The CREATE INDEX statement is used to create an index on one or more columns of a table, which improves query performance.</a:t>
            </a:r>
          </a:p>
          <a:p>
            <a:endParaRPr lang="en-US" sz="1600" dirty="0"/>
          </a:p>
          <a:p>
            <a:endParaRPr lang="en-US" sz="1600" dirty="0"/>
          </a:p>
          <a:p>
            <a:endParaRPr lang="en-US" sz="1600" dirty="0"/>
          </a:p>
          <a:p>
            <a:r>
              <a:rPr lang="en-US" sz="1600" dirty="0"/>
              <a:t>This creates an index named </a:t>
            </a:r>
            <a:r>
              <a:rPr lang="en-US" sz="1600" dirty="0" err="1"/>
              <a:t>idx_lastname</a:t>
            </a:r>
            <a:r>
              <a:rPr lang="en-US" sz="1600" dirty="0"/>
              <a:t> on the </a:t>
            </a:r>
            <a:r>
              <a:rPr lang="en-US" sz="1600" dirty="0" err="1"/>
              <a:t>LastName</a:t>
            </a:r>
            <a:r>
              <a:rPr lang="en-US" sz="1600" dirty="0"/>
              <a:t> column of the Customers table.</a:t>
            </a:r>
            <a:endParaRPr lang="en-PK" sz="1600" dirty="0"/>
          </a:p>
        </p:txBody>
      </p:sp>
    </p:spTree>
    <p:extLst>
      <p:ext uri="{BB962C8B-B14F-4D97-AF65-F5344CB8AC3E}">
        <p14:creationId xmlns:p14="http://schemas.microsoft.com/office/powerpoint/2010/main" val="1077736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A07CC6E4-0351-E7E1-8840-2BD27AC40A7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99821F8-534D-A172-6579-84C3FFE99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830C2D45-104A-9D62-7D27-B08919BB9E46}"/>
              </a:ext>
            </a:extLst>
          </p:cNvPr>
          <p:cNvSpPr>
            <a:spLocks noGrp="1"/>
          </p:cNvSpPr>
          <p:nvPr>
            <p:ph type="title"/>
          </p:nvPr>
        </p:nvSpPr>
        <p:spPr>
          <a:xfrm>
            <a:off x="7558564" y="609600"/>
            <a:ext cx="3912583" cy="1356360"/>
          </a:xfrm>
        </p:spPr>
        <p:txBody>
          <a:bodyPr>
            <a:normAutofit/>
          </a:bodyPr>
          <a:lstStyle/>
          <a:p>
            <a:r>
              <a:rPr lang="en-US" sz="3200" dirty="0"/>
              <a:t>DROP INDEX</a:t>
            </a:r>
            <a:endParaRPr lang="en-PK" sz="3200" dirty="0"/>
          </a:p>
        </p:txBody>
      </p:sp>
      <p:sp>
        <p:nvSpPr>
          <p:cNvPr id="3" name="Content Placeholder 2">
            <a:extLst>
              <a:ext uri="{FF2B5EF4-FFF2-40B4-BE49-F238E27FC236}">
                <a16:creationId xmlns:a16="http://schemas.microsoft.com/office/drawing/2014/main" id="{1DCFF711-5322-D43A-F33C-BD189304C266}"/>
              </a:ext>
            </a:extLst>
          </p:cNvPr>
          <p:cNvSpPr>
            <a:spLocks noGrp="1"/>
          </p:cNvSpPr>
          <p:nvPr>
            <p:ph idx="1"/>
          </p:nvPr>
        </p:nvSpPr>
        <p:spPr>
          <a:xfrm>
            <a:off x="7558564" y="2057400"/>
            <a:ext cx="3912583" cy="4038600"/>
          </a:xfrm>
        </p:spPr>
        <p:txBody>
          <a:bodyPr>
            <a:normAutofit/>
          </a:bodyPr>
          <a:lstStyle/>
          <a:p>
            <a:r>
              <a:rPr lang="en-US" sz="1600" dirty="0"/>
              <a:t>The DROP INDEX statement is used to delete an index.</a:t>
            </a:r>
          </a:p>
          <a:p>
            <a:endParaRPr lang="en-US" sz="1600" dirty="0"/>
          </a:p>
          <a:p>
            <a:endParaRPr lang="en-US" sz="1600" dirty="0"/>
          </a:p>
          <a:p>
            <a:endParaRPr lang="en-US" sz="1600" dirty="0"/>
          </a:p>
          <a:p>
            <a:endParaRPr lang="en-US" sz="1600" dirty="0"/>
          </a:p>
          <a:p>
            <a:r>
              <a:rPr lang="en-US" sz="1600" dirty="0"/>
              <a:t>This deletes the </a:t>
            </a:r>
            <a:r>
              <a:rPr lang="en-US" sz="1600" dirty="0" err="1"/>
              <a:t>idx_lastname</a:t>
            </a:r>
            <a:r>
              <a:rPr lang="en-US" sz="1600" dirty="0"/>
              <a:t> index from the Customers table.</a:t>
            </a:r>
            <a:endParaRPr lang="en-PK" sz="1600" dirty="0"/>
          </a:p>
        </p:txBody>
      </p:sp>
      <p:pic>
        <p:nvPicPr>
          <p:cNvPr id="6" name="Picture 5">
            <a:extLst>
              <a:ext uri="{FF2B5EF4-FFF2-40B4-BE49-F238E27FC236}">
                <a16:creationId xmlns:a16="http://schemas.microsoft.com/office/drawing/2014/main" id="{49D24BA6-EA94-97D0-3C54-66465F58CCD1}"/>
              </a:ext>
            </a:extLst>
          </p:cNvPr>
          <p:cNvPicPr>
            <a:picLocks noChangeAspect="1"/>
          </p:cNvPicPr>
          <p:nvPr/>
        </p:nvPicPr>
        <p:blipFill>
          <a:blip r:embed="rId2"/>
          <a:stretch>
            <a:fillRect/>
          </a:stretch>
        </p:blipFill>
        <p:spPr>
          <a:xfrm>
            <a:off x="809722" y="981957"/>
            <a:ext cx="6353078" cy="4894086"/>
          </a:xfrm>
          <a:prstGeom prst="rect">
            <a:avLst/>
          </a:prstGeom>
        </p:spPr>
      </p:pic>
    </p:spTree>
    <p:extLst>
      <p:ext uri="{BB962C8B-B14F-4D97-AF65-F5344CB8AC3E}">
        <p14:creationId xmlns:p14="http://schemas.microsoft.com/office/powerpoint/2010/main" val="667806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AC75A-BCB8-21AA-189E-4635FD562E85}"/>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53295102-45FD-2D4C-CAAC-65EE85A8C507}"/>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9306160F-8779-0FA3-0C5D-6842CE404D7F}"/>
              </a:ext>
            </a:extLst>
          </p:cNvPr>
          <p:cNvPicPr>
            <a:picLocks noChangeAspect="1"/>
          </p:cNvPicPr>
          <p:nvPr/>
        </p:nvPicPr>
        <p:blipFill>
          <a:blip r:embed="rId2"/>
          <a:stretch>
            <a:fillRect/>
          </a:stretch>
        </p:blipFill>
        <p:spPr>
          <a:xfrm>
            <a:off x="1466037" y="333833"/>
            <a:ext cx="9274438" cy="6196729"/>
          </a:xfrm>
          <a:prstGeom prst="rect">
            <a:avLst/>
          </a:prstGeom>
        </p:spPr>
      </p:pic>
    </p:spTree>
    <p:extLst>
      <p:ext uri="{BB962C8B-B14F-4D97-AF65-F5344CB8AC3E}">
        <p14:creationId xmlns:p14="http://schemas.microsoft.com/office/powerpoint/2010/main" val="64519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422EBDEC-6D64-6913-B07F-E01CC56FBC8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C73FDFF-BDF5-1115-F068-C96F11262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2" name="Rectangle 11">
            <a:extLst>
              <a:ext uri="{FF2B5EF4-FFF2-40B4-BE49-F238E27FC236}">
                <a16:creationId xmlns:a16="http://schemas.microsoft.com/office/drawing/2014/main" id="{3E4CEF59-33BB-767F-A628-B48CA3D5BD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14" name="Straight Connector 13">
            <a:extLst>
              <a:ext uri="{FF2B5EF4-FFF2-40B4-BE49-F238E27FC236}">
                <a16:creationId xmlns:a16="http://schemas.microsoft.com/office/drawing/2014/main" id="{134B6936-C69B-1736-A27A-03A43A7B48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B6B9C8D6-28EF-5E46-FA2B-FBF6982BB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8" name="Rectangle 17">
            <a:extLst>
              <a:ext uri="{FF2B5EF4-FFF2-40B4-BE49-F238E27FC236}">
                <a16:creationId xmlns:a16="http://schemas.microsoft.com/office/drawing/2014/main" id="{1586C88E-B294-2281-5BCF-4C1DBA38D9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4" name="Title 3">
            <a:extLst>
              <a:ext uri="{FF2B5EF4-FFF2-40B4-BE49-F238E27FC236}">
                <a16:creationId xmlns:a16="http://schemas.microsoft.com/office/drawing/2014/main" id="{AB571BCB-884F-7E5B-4705-2A7695E1EA43}"/>
              </a:ext>
            </a:extLst>
          </p:cNvPr>
          <p:cNvSpPr>
            <a:spLocks noGrp="1"/>
          </p:cNvSpPr>
          <p:nvPr>
            <p:ph type="title"/>
          </p:nvPr>
        </p:nvSpPr>
        <p:spPr>
          <a:xfrm>
            <a:off x="895467" y="863364"/>
            <a:ext cx="6657476" cy="5126124"/>
          </a:xfrm>
        </p:spPr>
        <p:txBody>
          <a:bodyPr vert="horz" lIns="91440" tIns="45720" rIns="91440" bIns="45720" rtlCol="0" anchor="ctr">
            <a:normAutofit/>
          </a:bodyPr>
          <a:lstStyle/>
          <a:p>
            <a:pPr algn="r">
              <a:lnSpc>
                <a:spcPct val="85000"/>
              </a:lnSpc>
            </a:pPr>
            <a:r>
              <a:rPr lang="en-US" sz="4800" b="1" cap="all" dirty="0">
                <a:solidFill>
                  <a:schemeClr val="tx1"/>
                </a:solidFill>
                <a:latin typeface="+mj-lt"/>
                <a:cs typeface="+mj-cs"/>
              </a:rPr>
              <a:t>Data QUEYRY language</a:t>
            </a:r>
            <a:br>
              <a:rPr lang="en-US" sz="4800" b="1" cap="all" dirty="0">
                <a:solidFill>
                  <a:schemeClr val="tx1"/>
                </a:solidFill>
                <a:latin typeface="+mj-lt"/>
                <a:cs typeface="+mj-cs"/>
              </a:rPr>
            </a:br>
            <a:r>
              <a:rPr lang="en-US" sz="4800" b="1" cap="all" dirty="0">
                <a:solidFill>
                  <a:schemeClr val="tx1"/>
                </a:solidFill>
                <a:latin typeface="+mj-lt"/>
                <a:cs typeface="+mj-cs"/>
              </a:rPr>
              <a:t>(</a:t>
            </a:r>
            <a:r>
              <a:rPr lang="en-US" sz="4800" b="1" cap="all" dirty="0" err="1">
                <a:solidFill>
                  <a:schemeClr val="tx1"/>
                </a:solidFill>
                <a:latin typeface="+mj-lt"/>
                <a:cs typeface="+mj-cs"/>
              </a:rPr>
              <a:t>DQl</a:t>
            </a:r>
            <a:r>
              <a:rPr lang="en-US" sz="4800" b="1" cap="all" dirty="0">
                <a:solidFill>
                  <a:schemeClr val="tx1"/>
                </a:solidFill>
                <a:latin typeface="+mj-lt"/>
                <a:cs typeface="+mj-cs"/>
              </a:rPr>
              <a:t>)</a:t>
            </a:r>
          </a:p>
        </p:txBody>
      </p:sp>
      <p:cxnSp>
        <p:nvCxnSpPr>
          <p:cNvPr id="20" name="Straight Connector 19">
            <a:extLst>
              <a:ext uri="{FF2B5EF4-FFF2-40B4-BE49-F238E27FC236}">
                <a16:creationId xmlns:a16="http://schemas.microsoft.com/office/drawing/2014/main" id="{2967298F-644B-F472-4378-AA08C26AC7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961243" y="2054826"/>
            <a:ext cx="0" cy="2743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itle 3">
            <a:extLst>
              <a:ext uri="{FF2B5EF4-FFF2-40B4-BE49-F238E27FC236}">
                <a16:creationId xmlns:a16="http://schemas.microsoft.com/office/drawing/2014/main" id="{E06E6869-DA33-CB3A-D2FD-8965CCEA92DA}"/>
              </a:ext>
            </a:extLst>
          </p:cNvPr>
          <p:cNvSpPr txBox="1">
            <a:spLocks/>
          </p:cNvSpPr>
          <p:nvPr/>
        </p:nvSpPr>
        <p:spPr>
          <a:xfrm>
            <a:off x="7958703" y="1179510"/>
            <a:ext cx="3795468" cy="512612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solidFill>
                <a:latin typeface="Arial Rounded MT Bold" panose="020F0704030504030204" pitchFamily="34" charset="0"/>
                <a:ea typeface="+mj-ea"/>
                <a:cs typeface="Arial" panose="020B0604020202020204" pitchFamily="34" charset="0"/>
              </a:defRPr>
            </a:lvl1pPr>
          </a:lstStyle>
          <a:p>
            <a:pPr marL="342900" indent="-342900">
              <a:lnSpc>
                <a:spcPct val="85000"/>
              </a:lnSpc>
              <a:buFont typeface="Arial" panose="020B0604020202020204" pitchFamily="34" charset="0"/>
              <a:buChar char="•"/>
            </a:pPr>
            <a:r>
              <a:rPr lang="en-US" sz="2400" b="1" cap="all" dirty="0">
                <a:solidFill>
                  <a:schemeClr val="tx1"/>
                </a:solidFill>
                <a:latin typeface="+mj-lt"/>
                <a:cs typeface="+mj-cs"/>
              </a:rPr>
              <a:t>select</a:t>
            </a:r>
          </a:p>
        </p:txBody>
      </p:sp>
    </p:spTree>
    <p:extLst>
      <p:ext uri="{BB962C8B-B14F-4D97-AF65-F5344CB8AC3E}">
        <p14:creationId xmlns:p14="http://schemas.microsoft.com/office/powerpoint/2010/main" val="2730501905"/>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CDF58-7670-E404-6355-3E191E680750}"/>
              </a:ext>
            </a:extLst>
          </p:cNvPr>
          <p:cNvSpPr>
            <a:spLocks noGrp="1"/>
          </p:cNvSpPr>
          <p:nvPr>
            <p:ph type="title"/>
          </p:nvPr>
        </p:nvSpPr>
        <p:spPr/>
        <p:txBody>
          <a:bodyPr/>
          <a:lstStyle/>
          <a:p>
            <a:r>
              <a:rPr lang="en-US" dirty="0"/>
              <a:t>Capabilities of SELECT Statements</a:t>
            </a:r>
            <a:endParaRPr lang="en-PK" dirty="0"/>
          </a:p>
        </p:txBody>
      </p:sp>
      <p:sp>
        <p:nvSpPr>
          <p:cNvPr id="3" name="Content Placeholder 2">
            <a:extLst>
              <a:ext uri="{FF2B5EF4-FFF2-40B4-BE49-F238E27FC236}">
                <a16:creationId xmlns:a16="http://schemas.microsoft.com/office/drawing/2014/main" id="{580E517B-6ED7-4535-95BC-8B46D6B252D4}"/>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AEF1D493-DB83-468E-C06A-AD043AFA4B01}"/>
              </a:ext>
            </a:extLst>
          </p:cNvPr>
          <p:cNvPicPr>
            <a:picLocks noChangeAspect="1"/>
          </p:cNvPicPr>
          <p:nvPr/>
        </p:nvPicPr>
        <p:blipFill>
          <a:blip r:embed="rId2"/>
          <a:srcRect r="13784"/>
          <a:stretch/>
        </p:blipFill>
        <p:spPr>
          <a:xfrm>
            <a:off x="3199894" y="1966012"/>
            <a:ext cx="5806723" cy="4039164"/>
          </a:xfrm>
          <a:prstGeom prst="rect">
            <a:avLst/>
          </a:prstGeom>
        </p:spPr>
      </p:pic>
    </p:spTree>
    <p:extLst>
      <p:ext uri="{BB962C8B-B14F-4D97-AF65-F5344CB8AC3E}">
        <p14:creationId xmlns:p14="http://schemas.microsoft.com/office/powerpoint/2010/main" val="207022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B4DEF-23DF-348C-AAC7-3726113F3E29}"/>
              </a:ext>
            </a:extLst>
          </p:cNvPr>
          <p:cNvSpPr>
            <a:spLocks noGrp="1"/>
          </p:cNvSpPr>
          <p:nvPr>
            <p:ph type="title"/>
          </p:nvPr>
        </p:nvSpPr>
        <p:spPr>
          <a:xfrm>
            <a:off x="1143001" y="1070335"/>
            <a:ext cx="5199926" cy="1443269"/>
          </a:xfrm>
        </p:spPr>
        <p:txBody>
          <a:bodyPr>
            <a:normAutofit/>
          </a:bodyPr>
          <a:lstStyle/>
          <a:p>
            <a:r>
              <a:rPr lang="en-US" sz="4000"/>
              <a:t>Data Query Language (DQL)</a:t>
            </a:r>
            <a:endParaRPr lang="en-PK" sz="4000"/>
          </a:p>
        </p:txBody>
      </p:sp>
      <p:sp>
        <p:nvSpPr>
          <p:cNvPr id="3" name="Content Placeholder 2">
            <a:extLst>
              <a:ext uri="{FF2B5EF4-FFF2-40B4-BE49-F238E27FC236}">
                <a16:creationId xmlns:a16="http://schemas.microsoft.com/office/drawing/2014/main" id="{3163830D-6CEC-417A-909C-E1A34797BAF0}"/>
              </a:ext>
            </a:extLst>
          </p:cNvPr>
          <p:cNvSpPr>
            <a:spLocks noGrp="1"/>
          </p:cNvSpPr>
          <p:nvPr>
            <p:ph idx="1"/>
          </p:nvPr>
        </p:nvSpPr>
        <p:spPr>
          <a:xfrm>
            <a:off x="1143002" y="2546430"/>
            <a:ext cx="5084178" cy="3549570"/>
          </a:xfrm>
        </p:spPr>
        <p:txBody>
          <a:bodyPr>
            <a:normAutofit/>
          </a:bodyPr>
          <a:lstStyle/>
          <a:p>
            <a:endParaRPr lang="en-US" sz="1800" dirty="0"/>
          </a:p>
          <a:p>
            <a:r>
              <a:rPr lang="en-US" sz="1800" dirty="0"/>
              <a:t>DQL (Data Query Language) in MySQL is used to retrieve data from the database. </a:t>
            </a:r>
          </a:p>
          <a:p>
            <a:r>
              <a:rPr lang="en-US" sz="1800" dirty="0"/>
              <a:t>The main DQL command in SQL is SELECT, which is used to fetch data from tables based on conditions.</a:t>
            </a:r>
          </a:p>
          <a:p>
            <a:endParaRPr lang="en-PK" sz="1800" dirty="0"/>
          </a:p>
        </p:txBody>
      </p:sp>
      <p:pic>
        <p:nvPicPr>
          <p:cNvPr id="5" name="Picture 4">
            <a:extLst>
              <a:ext uri="{FF2B5EF4-FFF2-40B4-BE49-F238E27FC236}">
                <a16:creationId xmlns:a16="http://schemas.microsoft.com/office/drawing/2014/main" id="{4FE75F7C-A46F-6226-1FC0-2F0A10B7EA32}"/>
              </a:ext>
            </a:extLst>
          </p:cNvPr>
          <p:cNvPicPr>
            <a:picLocks noChangeAspect="1"/>
          </p:cNvPicPr>
          <p:nvPr/>
        </p:nvPicPr>
        <p:blipFill>
          <a:blip r:embed="rId2"/>
          <a:srcRect l="-1" t="-1" r="-4007" b="-3"/>
          <a:stretch/>
        </p:blipFill>
        <p:spPr>
          <a:xfrm>
            <a:off x="6342927" y="1277831"/>
            <a:ext cx="5555257" cy="4818169"/>
          </a:xfrm>
          <a:prstGeom prst="rect">
            <a:avLst/>
          </a:prstGeom>
        </p:spPr>
      </p:pic>
    </p:spTree>
    <p:extLst>
      <p:ext uri="{BB962C8B-B14F-4D97-AF65-F5344CB8AC3E}">
        <p14:creationId xmlns:p14="http://schemas.microsoft.com/office/powerpoint/2010/main" val="22023634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ACA29-8ACC-4E7D-2F93-7C6ADD514FEB}"/>
              </a:ext>
            </a:extLst>
          </p:cNvPr>
          <p:cNvSpPr>
            <a:spLocks noGrp="1"/>
          </p:cNvSpPr>
          <p:nvPr>
            <p:ph type="title"/>
          </p:nvPr>
        </p:nvSpPr>
        <p:spPr/>
        <p:txBody>
          <a:bodyPr/>
          <a:lstStyle/>
          <a:p>
            <a:r>
              <a:rPr lang="en-US" dirty="0"/>
              <a:t>Selecting All Columns</a:t>
            </a:r>
            <a:endParaRPr lang="en-PK" dirty="0"/>
          </a:p>
        </p:txBody>
      </p:sp>
      <p:sp>
        <p:nvSpPr>
          <p:cNvPr id="3" name="Content Placeholder 2">
            <a:extLst>
              <a:ext uri="{FF2B5EF4-FFF2-40B4-BE49-F238E27FC236}">
                <a16:creationId xmlns:a16="http://schemas.microsoft.com/office/drawing/2014/main" id="{D4082202-E33E-DE7D-6E8A-8B7220357ABF}"/>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289246C1-8C8E-7FF0-74E8-344727C32B1D}"/>
              </a:ext>
            </a:extLst>
          </p:cNvPr>
          <p:cNvPicPr>
            <a:picLocks noChangeAspect="1"/>
          </p:cNvPicPr>
          <p:nvPr/>
        </p:nvPicPr>
        <p:blipFill>
          <a:blip r:embed="rId2"/>
          <a:stretch>
            <a:fillRect/>
          </a:stretch>
        </p:blipFill>
        <p:spPr>
          <a:xfrm>
            <a:off x="2137406" y="2252803"/>
            <a:ext cx="7917187" cy="3465582"/>
          </a:xfrm>
          <a:prstGeom prst="rect">
            <a:avLst/>
          </a:prstGeom>
        </p:spPr>
      </p:pic>
    </p:spTree>
    <p:extLst>
      <p:ext uri="{BB962C8B-B14F-4D97-AF65-F5344CB8AC3E}">
        <p14:creationId xmlns:p14="http://schemas.microsoft.com/office/powerpoint/2010/main" val="29027601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A39D6-E737-DB08-BAEA-58C9D97F248D}"/>
              </a:ext>
            </a:extLst>
          </p:cNvPr>
          <p:cNvSpPr>
            <a:spLocks noGrp="1"/>
          </p:cNvSpPr>
          <p:nvPr>
            <p:ph type="title"/>
          </p:nvPr>
        </p:nvSpPr>
        <p:spPr/>
        <p:txBody>
          <a:bodyPr/>
          <a:lstStyle/>
          <a:p>
            <a:r>
              <a:rPr lang="en-US" dirty="0"/>
              <a:t>Selecting Specific Columns</a:t>
            </a:r>
            <a:endParaRPr lang="en-PK" dirty="0"/>
          </a:p>
        </p:txBody>
      </p:sp>
      <p:sp>
        <p:nvSpPr>
          <p:cNvPr id="3" name="Content Placeholder 2">
            <a:extLst>
              <a:ext uri="{FF2B5EF4-FFF2-40B4-BE49-F238E27FC236}">
                <a16:creationId xmlns:a16="http://schemas.microsoft.com/office/drawing/2014/main" id="{552F6F99-D4E6-01F4-A401-2E3C15FADF0A}"/>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C6B5BCCA-43D5-46ED-483B-9309B353FA3A}"/>
              </a:ext>
            </a:extLst>
          </p:cNvPr>
          <p:cNvPicPr>
            <a:picLocks noChangeAspect="1"/>
          </p:cNvPicPr>
          <p:nvPr/>
        </p:nvPicPr>
        <p:blipFill>
          <a:blip r:embed="rId2"/>
          <a:stretch>
            <a:fillRect/>
          </a:stretch>
        </p:blipFill>
        <p:spPr>
          <a:xfrm>
            <a:off x="2265588" y="2316737"/>
            <a:ext cx="7675335" cy="3337714"/>
          </a:xfrm>
          <a:prstGeom prst="rect">
            <a:avLst/>
          </a:prstGeom>
        </p:spPr>
      </p:pic>
    </p:spTree>
    <p:extLst>
      <p:ext uri="{BB962C8B-B14F-4D97-AF65-F5344CB8AC3E}">
        <p14:creationId xmlns:p14="http://schemas.microsoft.com/office/powerpoint/2010/main" val="25496717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887B9-E0E7-537B-5CE3-B43E67ADD495}"/>
              </a:ext>
            </a:extLst>
          </p:cNvPr>
          <p:cNvSpPr>
            <a:spLocks noGrp="1"/>
          </p:cNvSpPr>
          <p:nvPr>
            <p:ph type="title"/>
          </p:nvPr>
        </p:nvSpPr>
        <p:spPr/>
        <p:txBody>
          <a:bodyPr/>
          <a:lstStyle/>
          <a:p>
            <a:endParaRPr lang="en-PK"/>
          </a:p>
        </p:txBody>
      </p:sp>
      <p:pic>
        <p:nvPicPr>
          <p:cNvPr id="7" name="Content Placeholder 6" descr="A screenshot of a math problem&#10;&#10;AI-generated content may be incorrect.">
            <a:extLst>
              <a:ext uri="{FF2B5EF4-FFF2-40B4-BE49-F238E27FC236}">
                <a16:creationId xmlns:a16="http://schemas.microsoft.com/office/drawing/2014/main" id="{70129DDF-1310-DCC0-3AA0-805B1DEF2A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1543" y="1493276"/>
            <a:ext cx="5781875" cy="4065313"/>
          </a:xfrm>
        </p:spPr>
      </p:pic>
      <p:pic>
        <p:nvPicPr>
          <p:cNvPr id="9" name="Picture 8" descr="A screenshot of a calculator&#10;&#10;AI-generated content may be incorrect.">
            <a:extLst>
              <a:ext uri="{FF2B5EF4-FFF2-40B4-BE49-F238E27FC236}">
                <a16:creationId xmlns:a16="http://schemas.microsoft.com/office/drawing/2014/main" id="{E07B56C5-6E49-68CC-38B6-12446D3E86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3418" y="1963614"/>
            <a:ext cx="5577845" cy="3124636"/>
          </a:xfrm>
          <a:prstGeom prst="rect">
            <a:avLst/>
          </a:prstGeom>
        </p:spPr>
      </p:pic>
    </p:spTree>
    <p:extLst>
      <p:ext uri="{BB962C8B-B14F-4D97-AF65-F5344CB8AC3E}">
        <p14:creationId xmlns:p14="http://schemas.microsoft.com/office/powerpoint/2010/main" val="30229923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E00F4-8B6A-3743-2DF4-C7E5C072DCA9}"/>
              </a:ext>
            </a:extLst>
          </p:cNvPr>
          <p:cNvSpPr>
            <a:spLocks noGrp="1"/>
          </p:cNvSpPr>
          <p:nvPr>
            <p:ph type="title"/>
          </p:nvPr>
        </p:nvSpPr>
        <p:spPr>
          <a:xfrm>
            <a:off x="653145" y="609599"/>
            <a:ext cx="3069770" cy="5606143"/>
          </a:xfrm>
        </p:spPr>
        <p:txBody>
          <a:bodyPr>
            <a:normAutofit/>
          </a:bodyPr>
          <a:lstStyle/>
          <a:p>
            <a:r>
              <a:rPr lang="en-US" dirty="0"/>
              <a:t>WHERE Clause</a:t>
            </a:r>
            <a:endParaRPr lang="en-PK" dirty="0"/>
          </a:p>
        </p:txBody>
      </p:sp>
      <p:sp>
        <p:nvSpPr>
          <p:cNvPr id="10" name="Content Placeholder 2">
            <a:extLst>
              <a:ext uri="{FF2B5EF4-FFF2-40B4-BE49-F238E27FC236}">
                <a16:creationId xmlns:a16="http://schemas.microsoft.com/office/drawing/2014/main" id="{DA453559-033C-614D-A780-CAAA6D87FBF7}"/>
              </a:ext>
            </a:extLst>
          </p:cNvPr>
          <p:cNvSpPr>
            <a:spLocks noGrp="1"/>
          </p:cNvSpPr>
          <p:nvPr>
            <p:ph idx="1"/>
          </p:nvPr>
        </p:nvSpPr>
        <p:spPr>
          <a:xfrm>
            <a:off x="4545004" y="609600"/>
            <a:ext cx="6961196" cy="3777343"/>
          </a:xfrm>
        </p:spPr>
        <p:txBody>
          <a:bodyPr>
            <a:normAutofit/>
          </a:bodyPr>
          <a:lstStyle/>
          <a:p>
            <a:r>
              <a:rPr lang="en-US" dirty="0"/>
              <a:t>The WHERE clause is used to filter records.</a:t>
            </a:r>
          </a:p>
          <a:p>
            <a:r>
              <a:rPr lang="en-US" b="1" dirty="0"/>
              <a:t>Note: </a:t>
            </a:r>
            <a:r>
              <a:rPr lang="en-US" dirty="0"/>
              <a:t>The WHERE clause is not only used in SELECT statements, it is also used in UPDATE, DELETE, etc.!</a:t>
            </a:r>
          </a:p>
          <a:p>
            <a:endParaRPr lang="en-US" dirty="0"/>
          </a:p>
          <a:p>
            <a:r>
              <a:rPr lang="en-US" dirty="0"/>
              <a:t>Syntax:</a:t>
            </a:r>
            <a:endParaRPr lang="en-PK" dirty="0"/>
          </a:p>
        </p:txBody>
      </p:sp>
      <p:pic>
        <p:nvPicPr>
          <p:cNvPr id="6" name="Picture 5" descr="A close up of text&#10;&#10;AI-generated content may be incorrect.">
            <a:extLst>
              <a:ext uri="{FF2B5EF4-FFF2-40B4-BE49-F238E27FC236}">
                <a16:creationId xmlns:a16="http://schemas.microsoft.com/office/drawing/2014/main" id="{99F29425-7539-03C7-5639-D7AA4CC40A0A}"/>
              </a:ext>
            </a:extLst>
          </p:cNvPr>
          <p:cNvPicPr>
            <a:picLocks noChangeAspect="1"/>
          </p:cNvPicPr>
          <p:nvPr/>
        </p:nvPicPr>
        <p:blipFill>
          <a:blip r:embed="rId2"/>
          <a:stretch>
            <a:fillRect/>
          </a:stretch>
        </p:blipFill>
        <p:spPr>
          <a:xfrm>
            <a:off x="6686624" y="2498271"/>
            <a:ext cx="3986631" cy="1187853"/>
          </a:xfrm>
          <a:prstGeom prst="rect">
            <a:avLst/>
          </a:prstGeom>
        </p:spPr>
      </p:pic>
      <p:pic>
        <p:nvPicPr>
          <p:cNvPr id="9" name="Picture 8">
            <a:extLst>
              <a:ext uri="{FF2B5EF4-FFF2-40B4-BE49-F238E27FC236}">
                <a16:creationId xmlns:a16="http://schemas.microsoft.com/office/drawing/2014/main" id="{831FAEDE-3005-92BD-9696-9FECC273B60D}"/>
              </a:ext>
            </a:extLst>
          </p:cNvPr>
          <p:cNvPicPr>
            <a:picLocks noChangeAspect="1"/>
          </p:cNvPicPr>
          <p:nvPr/>
        </p:nvPicPr>
        <p:blipFill>
          <a:blip r:embed="rId3"/>
          <a:stretch>
            <a:fillRect/>
          </a:stretch>
        </p:blipFill>
        <p:spPr>
          <a:xfrm>
            <a:off x="4644907" y="3937626"/>
            <a:ext cx="7161524" cy="2278116"/>
          </a:xfrm>
          <a:prstGeom prst="rect">
            <a:avLst/>
          </a:prstGeom>
        </p:spPr>
      </p:pic>
    </p:spTree>
    <p:extLst>
      <p:ext uri="{BB962C8B-B14F-4D97-AF65-F5344CB8AC3E}">
        <p14:creationId xmlns:p14="http://schemas.microsoft.com/office/powerpoint/2010/main" val="6231139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DB6A8-A901-EF5B-38DE-02277A774258}"/>
              </a:ext>
            </a:extLst>
          </p:cNvPr>
          <p:cNvSpPr>
            <a:spLocks noGrp="1"/>
          </p:cNvSpPr>
          <p:nvPr>
            <p:ph type="title"/>
          </p:nvPr>
        </p:nvSpPr>
        <p:spPr/>
        <p:txBody>
          <a:bodyPr/>
          <a:lstStyle/>
          <a:p>
            <a:r>
              <a:rPr lang="en-US" dirty="0"/>
              <a:t>AND, OR and NOT Operators</a:t>
            </a:r>
            <a:endParaRPr lang="en-PK" dirty="0"/>
          </a:p>
        </p:txBody>
      </p:sp>
      <p:sp>
        <p:nvSpPr>
          <p:cNvPr id="3" name="Content Placeholder 2">
            <a:extLst>
              <a:ext uri="{FF2B5EF4-FFF2-40B4-BE49-F238E27FC236}">
                <a16:creationId xmlns:a16="http://schemas.microsoft.com/office/drawing/2014/main" id="{C9DBF041-1C30-9D76-E19D-5A2454D45BE6}"/>
              </a:ext>
            </a:extLst>
          </p:cNvPr>
          <p:cNvSpPr>
            <a:spLocks noGrp="1"/>
          </p:cNvSpPr>
          <p:nvPr>
            <p:ph idx="1"/>
          </p:nvPr>
        </p:nvSpPr>
        <p:spPr>
          <a:xfrm>
            <a:off x="8676970" y="730084"/>
            <a:ext cx="3062763" cy="1444414"/>
          </a:xfrm>
        </p:spPr>
        <p:txBody>
          <a:bodyPr>
            <a:normAutofit/>
          </a:bodyPr>
          <a:lstStyle/>
          <a:p>
            <a:r>
              <a:rPr lang="en-US" sz="2000" dirty="0"/>
              <a:t>The WHERE clause can be combined with AND, OR, and NOT operators.</a:t>
            </a:r>
            <a:endParaRPr lang="en-PK" sz="2000" dirty="0"/>
          </a:p>
        </p:txBody>
      </p:sp>
      <p:pic>
        <p:nvPicPr>
          <p:cNvPr id="5" name="Picture 4">
            <a:extLst>
              <a:ext uri="{FF2B5EF4-FFF2-40B4-BE49-F238E27FC236}">
                <a16:creationId xmlns:a16="http://schemas.microsoft.com/office/drawing/2014/main" id="{738CF6BF-0292-03E3-6EC7-ECA5B97096D9}"/>
              </a:ext>
            </a:extLst>
          </p:cNvPr>
          <p:cNvPicPr>
            <a:picLocks noChangeAspect="1"/>
          </p:cNvPicPr>
          <p:nvPr/>
        </p:nvPicPr>
        <p:blipFill>
          <a:blip r:embed="rId2"/>
          <a:stretch>
            <a:fillRect/>
          </a:stretch>
        </p:blipFill>
        <p:spPr>
          <a:xfrm>
            <a:off x="466781" y="1452292"/>
            <a:ext cx="7856033" cy="4010046"/>
          </a:xfrm>
          <a:prstGeom prst="rect">
            <a:avLst/>
          </a:prstGeom>
        </p:spPr>
      </p:pic>
      <p:pic>
        <p:nvPicPr>
          <p:cNvPr id="7" name="Picture 6">
            <a:extLst>
              <a:ext uri="{FF2B5EF4-FFF2-40B4-BE49-F238E27FC236}">
                <a16:creationId xmlns:a16="http://schemas.microsoft.com/office/drawing/2014/main" id="{65E71804-28BC-8FD6-15A5-5232CEC6AC9B}"/>
              </a:ext>
            </a:extLst>
          </p:cNvPr>
          <p:cNvPicPr>
            <a:picLocks noChangeAspect="1"/>
          </p:cNvPicPr>
          <p:nvPr/>
        </p:nvPicPr>
        <p:blipFill>
          <a:blip r:embed="rId3"/>
          <a:stretch>
            <a:fillRect/>
          </a:stretch>
        </p:blipFill>
        <p:spPr>
          <a:xfrm>
            <a:off x="8507445" y="2053442"/>
            <a:ext cx="3232288" cy="741027"/>
          </a:xfrm>
          <a:prstGeom prst="rect">
            <a:avLst/>
          </a:prstGeom>
        </p:spPr>
      </p:pic>
      <p:pic>
        <p:nvPicPr>
          <p:cNvPr id="9" name="Picture 8">
            <a:extLst>
              <a:ext uri="{FF2B5EF4-FFF2-40B4-BE49-F238E27FC236}">
                <a16:creationId xmlns:a16="http://schemas.microsoft.com/office/drawing/2014/main" id="{0AA2A3AE-0F7E-E9AC-990F-D03015FA4820}"/>
              </a:ext>
            </a:extLst>
          </p:cNvPr>
          <p:cNvPicPr>
            <a:picLocks noChangeAspect="1"/>
          </p:cNvPicPr>
          <p:nvPr/>
        </p:nvPicPr>
        <p:blipFill>
          <a:blip r:embed="rId4"/>
          <a:stretch>
            <a:fillRect/>
          </a:stretch>
        </p:blipFill>
        <p:spPr>
          <a:xfrm>
            <a:off x="8507445" y="3434613"/>
            <a:ext cx="3232288" cy="757916"/>
          </a:xfrm>
          <a:prstGeom prst="rect">
            <a:avLst/>
          </a:prstGeom>
        </p:spPr>
      </p:pic>
      <p:pic>
        <p:nvPicPr>
          <p:cNvPr id="11" name="Picture 10">
            <a:extLst>
              <a:ext uri="{FF2B5EF4-FFF2-40B4-BE49-F238E27FC236}">
                <a16:creationId xmlns:a16="http://schemas.microsoft.com/office/drawing/2014/main" id="{96719A03-FC75-68D8-6CF3-073798FDE220}"/>
              </a:ext>
            </a:extLst>
          </p:cNvPr>
          <p:cNvPicPr>
            <a:picLocks noChangeAspect="1"/>
          </p:cNvPicPr>
          <p:nvPr/>
        </p:nvPicPr>
        <p:blipFill>
          <a:blip r:embed="rId5"/>
          <a:stretch>
            <a:fillRect/>
          </a:stretch>
        </p:blipFill>
        <p:spPr>
          <a:xfrm>
            <a:off x="8507445" y="4719055"/>
            <a:ext cx="3317051" cy="838375"/>
          </a:xfrm>
          <a:prstGeom prst="rect">
            <a:avLst/>
          </a:prstGeom>
        </p:spPr>
      </p:pic>
      <p:pic>
        <p:nvPicPr>
          <p:cNvPr id="13" name="Picture 12">
            <a:extLst>
              <a:ext uri="{FF2B5EF4-FFF2-40B4-BE49-F238E27FC236}">
                <a16:creationId xmlns:a16="http://schemas.microsoft.com/office/drawing/2014/main" id="{F37F5154-3C32-82BB-611F-F864A6F3E66E}"/>
              </a:ext>
            </a:extLst>
          </p:cNvPr>
          <p:cNvPicPr>
            <a:picLocks noChangeAspect="1"/>
          </p:cNvPicPr>
          <p:nvPr/>
        </p:nvPicPr>
        <p:blipFill>
          <a:blip r:embed="rId6"/>
          <a:stretch>
            <a:fillRect/>
          </a:stretch>
        </p:blipFill>
        <p:spPr>
          <a:xfrm>
            <a:off x="3470718" y="5590589"/>
            <a:ext cx="6115904" cy="1009791"/>
          </a:xfrm>
          <a:prstGeom prst="rect">
            <a:avLst/>
          </a:prstGeom>
        </p:spPr>
      </p:pic>
    </p:spTree>
    <p:extLst>
      <p:ext uri="{BB962C8B-B14F-4D97-AF65-F5344CB8AC3E}">
        <p14:creationId xmlns:p14="http://schemas.microsoft.com/office/powerpoint/2010/main" val="39846505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A8A3A-FD27-43A0-F3A4-59AF2D227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F4BBA-44B7-E80B-A344-1689FDB85161}"/>
              </a:ext>
            </a:extLst>
          </p:cNvPr>
          <p:cNvSpPr>
            <a:spLocks noGrp="1"/>
          </p:cNvSpPr>
          <p:nvPr>
            <p:ph type="title"/>
          </p:nvPr>
        </p:nvSpPr>
        <p:spPr/>
        <p:txBody>
          <a:bodyPr/>
          <a:lstStyle/>
          <a:p>
            <a:endParaRPr lang="en-PK"/>
          </a:p>
        </p:txBody>
      </p:sp>
      <p:graphicFrame>
        <p:nvGraphicFramePr>
          <p:cNvPr id="4" name="Content Placeholder 3">
            <a:extLst>
              <a:ext uri="{FF2B5EF4-FFF2-40B4-BE49-F238E27FC236}">
                <a16:creationId xmlns:a16="http://schemas.microsoft.com/office/drawing/2014/main" id="{DCE98A49-42A6-1BD0-961E-D7EE03D08014}"/>
              </a:ext>
            </a:extLst>
          </p:cNvPr>
          <p:cNvGraphicFramePr>
            <a:graphicFrameLocks noGrp="1"/>
          </p:cNvGraphicFramePr>
          <p:nvPr>
            <p:ph idx="1"/>
            <p:extLst>
              <p:ext uri="{D42A27DB-BD31-4B8C-83A1-F6EECF244321}">
                <p14:modId xmlns:p14="http://schemas.microsoft.com/office/powerpoint/2010/main" val="4049946308"/>
              </p:ext>
            </p:extLst>
          </p:nvPr>
        </p:nvGraphicFramePr>
        <p:xfrm>
          <a:off x="550863" y="297627"/>
          <a:ext cx="11103428" cy="6226540"/>
        </p:xfrm>
        <a:graphic>
          <a:graphicData uri="http://schemas.openxmlformats.org/drawingml/2006/table">
            <a:tbl>
              <a:tblPr firstRow="1" bandRow="1">
                <a:tableStyleId>{5C22544A-7EE6-4342-B048-85BDC9FD1C3A}</a:tableStyleId>
              </a:tblPr>
              <a:tblGrid>
                <a:gridCol w="1183344">
                  <a:extLst>
                    <a:ext uri="{9D8B030D-6E8A-4147-A177-3AD203B41FA5}">
                      <a16:colId xmlns:a16="http://schemas.microsoft.com/office/drawing/2014/main" val="1589679994"/>
                    </a:ext>
                  </a:extLst>
                </a:gridCol>
                <a:gridCol w="2664372">
                  <a:extLst>
                    <a:ext uri="{9D8B030D-6E8A-4147-A177-3AD203B41FA5}">
                      <a16:colId xmlns:a16="http://schemas.microsoft.com/office/drawing/2014/main" val="4159876344"/>
                    </a:ext>
                  </a:extLst>
                </a:gridCol>
                <a:gridCol w="3389587">
                  <a:extLst>
                    <a:ext uri="{9D8B030D-6E8A-4147-A177-3AD203B41FA5}">
                      <a16:colId xmlns:a16="http://schemas.microsoft.com/office/drawing/2014/main" val="3614980906"/>
                    </a:ext>
                  </a:extLst>
                </a:gridCol>
                <a:gridCol w="3866125">
                  <a:extLst>
                    <a:ext uri="{9D8B030D-6E8A-4147-A177-3AD203B41FA5}">
                      <a16:colId xmlns:a16="http://schemas.microsoft.com/office/drawing/2014/main" val="2375587807"/>
                    </a:ext>
                  </a:extLst>
                </a:gridCol>
              </a:tblGrid>
              <a:tr h="398368">
                <a:tc>
                  <a:txBody>
                    <a:bodyPr/>
                    <a:lstStyle/>
                    <a:p>
                      <a:r>
                        <a:rPr lang="en-US" sz="1400" b="1" dirty="0"/>
                        <a:t>Command</a:t>
                      </a:r>
                    </a:p>
                  </a:txBody>
                  <a:tcPr anchor="ctr"/>
                </a:tc>
                <a:tc>
                  <a:txBody>
                    <a:bodyPr/>
                    <a:lstStyle/>
                    <a:p>
                      <a:r>
                        <a:rPr lang="en-US" sz="1400" b="1"/>
                        <a:t>Description</a:t>
                      </a:r>
                      <a:endParaRPr lang="en-US" sz="1400"/>
                    </a:p>
                  </a:txBody>
                  <a:tcPr anchor="ctr"/>
                </a:tc>
                <a:tc>
                  <a:txBody>
                    <a:bodyPr/>
                    <a:lstStyle/>
                    <a:p>
                      <a:r>
                        <a:rPr lang="en-US" sz="1400" b="1"/>
                        <a:t>Syntax</a:t>
                      </a:r>
                      <a:endParaRPr lang="en-US" sz="1400"/>
                    </a:p>
                  </a:txBody>
                  <a:tcPr anchor="ctr"/>
                </a:tc>
                <a:tc>
                  <a:txBody>
                    <a:bodyPr/>
                    <a:lstStyle/>
                    <a:p>
                      <a:r>
                        <a:rPr lang="en-US" sz="1400" b="1" dirty="0"/>
                        <a:t>Example</a:t>
                      </a:r>
                      <a:endParaRPr lang="en-US" sz="1400" dirty="0"/>
                    </a:p>
                  </a:txBody>
                  <a:tcPr anchor="ctr"/>
                </a:tc>
                <a:extLst>
                  <a:ext uri="{0D108BD9-81ED-4DB2-BD59-A6C34878D82A}">
                    <a16:rowId xmlns:a16="http://schemas.microsoft.com/office/drawing/2014/main" val="3082548264"/>
                  </a:ext>
                </a:extLst>
              </a:tr>
              <a:tr h="556623">
                <a:tc>
                  <a:txBody>
                    <a:bodyPr/>
                    <a:lstStyle/>
                    <a:p>
                      <a:r>
                        <a:rPr lang="en-US" sz="1400" b="1" dirty="0"/>
                        <a:t>SELECT</a:t>
                      </a:r>
                    </a:p>
                  </a:txBody>
                  <a:tcPr anchor="ctr"/>
                </a:tc>
                <a:tc>
                  <a:txBody>
                    <a:bodyPr/>
                    <a:lstStyle/>
                    <a:p>
                      <a:r>
                        <a:rPr lang="en-US" sz="1400"/>
                        <a:t>Retrieves data from one or more tables.</a:t>
                      </a:r>
                    </a:p>
                  </a:txBody>
                  <a:tcPr anchor="ctr"/>
                </a:tc>
                <a:tc>
                  <a:txBody>
                    <a:bodyPr/>
                    <a:lstStyle/>
                    <a:p>
                      <a:r>
                        <a:rPr lang="en-US" sz="1400"/>
                        <a:t>SELECT column1, column2 FROM table_name;</a:t>
                      </a:r>
                    </a:p>
                  </a:txBody>
                  <a:tcPr anchor="ctr"/>
                </a:tc>
                <a:tc>
                  <a:txBody>
                    <a:bodyPr/>
                    <a:lstStyle/>
                    <a:p>
                      <a:r>
                        <a:rPr lang="en-US" sz="1400" dirty="0"/>
                        <a:t>SELECT Name, Age FROM Students;</a:t>
                      </a:r>
                    </a:p>
                  </a:txBody>
                  <a:tcPr anchor="ctr"/>
                </a:tc>
                <a:extLst>
                  <a:ext uri="{0D108BD9-81ED-4DB2-BD59-A6C34878D82A}">
                    <a16:rowId xmlns:a16="http://schemas.microsoft.com/office/drawing/2014/main" val="134399130"/>
                  </a:ext>
                </a:extLst>
              </a:tr>
              <a:tr h="556623">
                <a:tc>
                  <a:txBody>
                    <a:bodyPr/>
                    <a:lstStyle/>
                    <a:p>
                      <a:r>
                        <a:rPr lang="en-US" sz="1400" b="1" dirty="0"/>
                        <a:t>WHERE</a:t>
                      </a:r>
                    </a:p>
                  </a:txBody>
                  <a:tcPr anchor="ctr"/>
                </a:tc>
                <a:tc>
                  <a:txBody>
                    <a:bodyPr/>
                    <a:lstStyle/>
                    <a:p>
                      <a:r>
                        <a:rPr lang="en-US" sz="1400"/>
                        <a:t>Filters records based on a condition.</a:t>
                      </a:r>
                    </a:p>
                  </a:txBody>
                  <a:tcPr anchor="ctr"/>
                </a:tc>
                <a:tc>
                  <a:txBody>
                    <a:bodyPr/>
                    <a:lstStyle/>
                    <a:p>
                      <a:r>
                        <a:rPr lang="en-US" sz="1400"/>
                        <a:t>SELECT column1 FROM table_name WHERE condition;</a:t>
                      </a:r>
                    </a:p>
                  </a:txBody>
                  <a:tcPr anchor="ctr"/>
                </a:tc>
                <a:tc>
                  <a:txBody>
                    <a:bodyPr/>
                    <a:lstStyle/>
                    <a:p>
                      <a:r>
                        <a:rPr lang="en-US" sz="1400"/>
                        <a:t>SELECT * FROM Students WHERE Age &gt; 20;</a:t>
                      </a:r>
                    </a:p>
                  </a:txBody>
                  <a:tcPr anchor="ctr"/>
                </a:tc>
                <a:extLst>
                  <a:ext uri="{0D108BD9-81ED-4DB2-BD59-A6C34878D82A}">
                    <a16:rowId xmlns:a16="http://schemas.microsoft.com/office/drawing/2014/main" val="3628704293"/>
                  </a:ext>
                </a:extLst>
              </a:tr>
              <a:tr h="785821">
                <a:tc>
                  <a:txBody>
                    <a:bodyPr/>
                    <a:lstStyle/>
                    <a:p>
                      <a:r>
                        <a:rPr lang="en-US" sz="1400" b="1" dirty="0"/>
                        <a:t>ORDER BY</a:t>
                      </a:r>
                    </a:p>
                  </a:txBody>
                  <a:tcPr anchor="ctr"/>
                </a:tc>
                <a:tc>
                  <a:txBody>
                    <a:bodyPr/>
                    <a:lstStyle/>
                    <a:p>
                      <a:r>
                        <a:rPr lang="en-US" sz="1400"/>
                        <a:t>Sorts results in ascending or descending order.</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SELECT column1 FROM </a:t>
                      </a:r>
                      <a:r>
                        <a:rPr lang="en-US" sz="1400" dirty="0" err="1"/>
                        <a:t>table_name</a:t>
                      </a:r>
                      <a:r>
                        <a:rPr lang="en-US" sz="1400" dirty="0"/>
                        <a:t> ORDER BY column1 [ASC DESC];</a:t>
                      </a:r>
                    </a:p>
                  </a:txBody>
                  <a:tcPr anchor="ctr"/>
                </a:tc>
                <a:tc>
                  <a:txBody>
                    <a:bodyPr/>
                    <a:lstStyle/>
                    <a:p>
                      <a:r>
                        <a:rPr lang="en-US" sz="1400" dirty="0"/>
                        <a:t>SELECT Name FROM Students ORDER BY Age DESC;</a:t>
                      </a:r>
                    </a:p>
                  </a:txBody>
                  <a:tcPr anchor="ctr"/>
                </a:tc>
                <a:extLst>
                  <a:ext uri="{0D108BD9-81ED-4DB2-BD59-A6C34878D82A}">
                    <a16:rowId xmlns:a16="http://schemas.microsoft.com/office/drawing/2014/main" val="754189903"/>
                  </a:ext>
                </a:extLst>
              </a:tr>
              <a:tr h="785821">
                <a:tc>
                  <a:txBody>
                    <a:bodyPr/>
                    <a:lstStyle/>
                    <a:p>
                      <a:r>
                        <a:rPr lang="en-US" sz="1400" b="1" dirty="0"/>
                        <a:t>GROUP BY</a:t>
                      </a:r>
                    </a:p>
                  </a:txBody>
                  <a:tcPr anchor="ctr"/>
                </a:tc>
                <a:tc>
                  <a:txBody>
                    <a:bodyPr/>
                    <a:lstStyle/>
                    <a:p>
                      <a:r>
                        <a:rPr lang="en-US" sz="1400"/>
                        <a:t>Groups records based on a column.</a:t>
                      </a:r>
                    </a:p>
                  </a:txBody>
                  <a:tcPr anchor="ctr"/>
                </a:tc>
                <a:tc>
                  <a:txBody>
                    <a:bodyPr/>
                    <a:lstStyle/>
                    <a:p>
                      <a:r>
                        <a:rPr lang="en-US" sz="1400"/>
                        <a:t>SELECT column1, COUNT(*) FROM table_name GROUP BY column1;</a:t>
                      </a:r>
                    </a:p>
                  </a:txBody>
                  <a:tcPr anchor="ctr"/>
                </a:tc>
                <a:tc>
                  <a:txBody>
                    <a:bodyPr/>
                    <a:lstStyle/>
                    <a:p>
                      <a:r>
                        <a:rPr lang="en-US" sz="1400"/>
                        <a:t>SELECT Department, COUNT(*) FROM Students GROUP BY Department;</a:t>
                      </a:r>
                    </a:p>
                  </a:txBody>
                  <a:tcPr anchor="ctr"/>
                </a:tc>
                <a:extLst>
                  <a:ext uri="{0D108BD9-81ED-4DB2-BD59-A6C34878D82A}">
                    <a16:rowId xmlns:a16="http://schemas.microsoft.com/office/drawing/2014/main" val="1724683729"/>
                  </a:ext>
                </a:extLst>
              </a:tr>
              <a:tr h="1015019">
                <a:tc>
                  <a:txBody>
                    <a:bodyPr/>
                    <a:lstStyle/>
                    <a:p>
                      <a:r>
                        <a:rPr lang="en-US" sz="1400" b="1" dirty="0"/>
                        <a:t>HAVING</a:t>
                      </a:r>
                    </a:p>
                  </a:txBody>
                  <a:tcPr anchor="ctr"/>
                </a:tc>
                <a:tc>
                  <a:txBody>
                    <a:bodyPr/>
                    <a:lstStyle/>
                    <a:p>
                      <a:r>
                        <a:rPr lang="en-US" sz="1400" dirty="0"/>
                        <a:t>Filters grouped records.</a:t>
                      </a:r>
                    </a:p>
                  </a:txBody>
                  <a:tcPr anchor="ctr"/>
                </a:tc>
                <a:tc>
                  <a:txBody>
                    <a:bodyPr/>
                    <a:lstStyle/>
                    <a:p>
                      <a:r>
                        <a:rPr lang="en-US" sz="1400"/>
                        <a:t>SELECT column1, COUNT(*) FROM table_name GROUP BY column1 HAVING condition;</a:t>
                      </a:r>
                    </a:p>
                  </a:txBody>
                  <a:tcPr anchor="ctr"/>
                </a:tc>
                <a:tc>
                  <a:txBody>
                    <a:bodyPr/>
                    <a:lstStyle/>
                    <a:p>
                      <a:r>
                        <a:rPr lang="en-US" sz="1400" dirty="0"/>
                        <a:t>SELECT Department, COUNT(*) FROM Students GROUP BY Department HAVING COUNT(*) &gt; 5;</a:t>
                      </a:r>
                    </a:p>
                  </a:txBody>
                  <a:tcPr anchor="ctr"/>
                </a:tc>
                <a:extLst>
                  <a:ext uri="{0D108BD9-81ED-4DB2-BD59-A6C34878D82A}">
                    <a16:rowId xmlns:a16="http://schemas.microsoft.com/office/drawing/2014/main" val="563889121"/>
                  </a:ext>
                </a:extLst>
              </a:tr>
              <a:tr h="556623">
                <a:tc>
                  <a:txBody>
                    <a:bodyPr/>
                    <a:lstStyle/>
                    <a:p>
                      <a:r>
                        <a:rPr lang="en-US" sz="1400" b="1" dirty="0"/>
                        <a:t>LIMIT</a:t>
                      </a:r>
                    </a:p>
                  </a:txBody>
                  <a:tcPr anchor="ctr"/>
                </a:tc>
                <a:tc>
                  <a:txBody>
                    <a:bodyPr/>
                    <a:lstStyle/>
                    <a:p>
                      <a:r>
                        <a:rPr lang="en-US" sz="1400"/>
                        <a:t>Limits the number of rows returned.</a:t>
                      </a:r>
                    </a:p>
                  </a:txBody>
                  <a:tcPr anchor="ctr"/>
                </a:tc>
                <a:tc>
                  <a:txBody>
                    <a:bodyPr/>
                    <a:lstStyle/>
                    <a:p>
                      <a:r>
                        <a:rPr lang="en-US" sz="1400"/>
                        <a:t>SELECT column1 FROM table_name LIMIT number;</a:t>
                      </a:r>
                    </a:p>
                  </a:txBody>
                  <a:tcPr anchor="ctr"/>
                </a:tc>
                <a:tc>
                  <a:txBody>
                    <a:bodyPr/>
                    <a:lstStyle/>
                    <a:p>
                      <a:r>
                        <a:rPr lang="en-US" sz="1400" dirty="0"/>
                        <a:t>SELECT * FROM Students LIMIT 5;</a:t>
                      </a:r>
                    </a:p>
                  </a:txBody>
                  <a:tcPr anchor="ctr"/>
                </a:tc>
                <a:extLst>
                  <a:ext uri="{0D108BD9-81ED-4DB2-BD59-A6C34878D82A}">
                    <a16:rowId xmlns:a16="http://schemas.microsoft.com/office/drawing/2014/main" val="3065331941"/>
                  </a:ext>
                </a:extLst>
              </a:tr>
              <a:tr h="556623">
                <a:tc>
                  <a:txBody>
                    <a:bodyPr/>
                    <a:lstStyle/>
                    <a:p>
                      <a:r>
                        <a:rPr lang="en-US" sz="1400" b="1" dirty="0"/>
                        <a:t>DISTINCT</a:t>
                      </a:r>
                    </a:p>
                  </a:txBody>
                  <a:tcPr anchor="ctr"/>
                </a:tc>
                <a:tc>
                  <a:txBody>
                    <a:bodyPr/>
                    <a:lstStyle/>
                    <a:p>
                      <a:r>
                        <a:rPr lang="en-US" sz="1400"/>
                        <a:t>Removes duplicate values.</a:t>
                      </a:r>
                    </a:p>
                  </a:txBody>
                  <a:tcPr anchor="ctr"/>
                </a:tc>
                <a:tc>
                  <a:txBody>
                    <a:bodyPr/>
                    <a:lstStyle/>
                    <a:p>
                      <a:r>
                        <a:rPr lang="en-US" sz="1400"/>
                        <a:t>SELECT DISTINCT column1 FROM table_name;</a:t>
                      </a:r>
                    </a:p>
                  </a:txBody>
                  <a:tcPr anchor="ctr"/>
                </a:tc>
                <a:tc>
                  <a:txBody>
                    <a:bodyPr/>
                    <a:lstStyle/>
                    <a:p>
                      <a:r>
                        <a:rPr lang="en-US" sz="1400" dirty="0"/>
                        <a:t>SELECT DISTINCT Department FROM Students;</a:t>
                      </a:r>
                    </a:p>
                  </a:txBody>
                  <a:tcPr anchor="ctr"/>
                </a:tc>
                <a:extLst>
                  <a:ext uri="{0D108BD9-81ED-4DB2-BD59-A6C34878D82A}">
                    <a16:rowId xmlns:a16="http://schemas.microsoft.com/office/drawing/2014/main" val="2979136570"/>
                  </a:ext>
                </a:extLst>
              </a:tr>
              <a:tr h="1015019">
                <a:tc>
                  <a:txBody>
                    <a:bodyPr/>
                    <a:lstStyle/>
                    <a:p>
                      <a:r>
                        <a:rPr lang="en-US" sz="1400" b="1" dirty="0"/>
                        <a:t>JOIN</a:t>
                      </a:r>
                    </a:p>
                  </a:txBody>
                  <a:tcPr anchor="ctr"/>
                </a:tc>
                <a:tc>
                  <a:txBody>
                    <a:bodyPr/>
                    <a:lstStyle/>
                    <a:p>
                      <a:r>
                        <a:rPr lang="en-US" sz="1400" dirty="0"/>
                        <a:t>Combines data from multiple tables.</a:t>
                      </a:r>
                    </a:p>
                  </a:txBody>
                  <a:tcPr anchor="ctr"/>
                </a:tc>
                <a:tc>
                  <a:txBody>
                    <a:bodyPr/>
                    <a:lstStyle/>
                    <a:p>
                      <a:r>
                        <a:rPr lang="en-US" sz="1400" dirty="0"/>
                        <a:t>SELECT column1 FROM table1 JOIN table2 ON table1.col = table2.col;</a:t>
                      </a:r>
                    </a:p>
                  </a:txBody>
                  <a:tcPr anchor="ctr"/>
                </a:tc>
                <a:tc>
                  <a:txBody>
                    <a:bodyPr/>
                    <a:lstStyle/>
                    <a:p>
                      <a:r>
                        <a:rPr lang="en-US" sz="1400" dirty="0"/>
                        <a:t>SELECT </a:t>
                      </a:r>
                      <a:r>
                        <a:rPr lang="en-US" sz="1400" dirty="0" err="1"/>
                        <a:t>Students.Name</a:t>
                      </a:r>
                      <a:r>
                        <a:rPr lang="en-US" sz="1400" dirty="0"/>
                        <a:t>, </a:t>
                      </a:r>
                      <a:r>
                        <a:rPr lang="en-US" sz="1400" dirty="0" err="1"/>
                        <a:t>Courses.CourseName</a:t>
                      </a:r>
                      <a:r>
                        <a:rPr lang="en-US" sz="1400" dirty="0"/>
                        <a:t> FROM Students INNER JOIN Courses ON </a:t>
                      </a:r>
                      <a:r>
                        <a:rPr lang="en-US" sz="1400" dirty="0" err="1"/>
                        <a:t>Students.RollNo</a:t>
                      </a:r>
                      <a:r>
                        <a:rPr lang="en-US" sz="1400" dirty="0"/>
                        <a:t> = </a:t>
                      </a:r>
                      <a:r>
                        <a:rPr lang="en-US" sz="1400" dirty="0" err="1"/>
                        <a:t>Courses.RollNo</a:t>
                      </a:r>
                      <a:r>
                        <a:rPr lang="en-US" sz="1400" dirty="0"/>
                        <a:t>;</a:t>
                      </a:r>
                    </a:p>
                  </a:txBody>
                  <a:tcPr anchor="ctr"/>
                </a:tc>
                <a:extLst>
                  <a:ext uri="{0D108BD9-81ED-4DB2-BD59-A6C34878D82A}">
                    <a16:rowId xmlns:a16="http://schemas.microsoft.com/office/drawing/2014/main" val="892524265"/>
                  </a:ext>
                </a:extLst>
              </a:tr>
            </a:tbl>
          </a:graphicData>
        </a:graphic>
      </p:graphicFrame>
    </p:spTree>
    <p:extLst>
      <p:ext uri="{BB962C8B-B14F-4D97-AF65-F5344CB8AC3E}">
        <p14:creationId xmlns:p14="http://schemas.microsoft.com/office/powerpoint/2010/main" val="8554330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9271C28-7496-4447-8541-7B39F5E94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DB03393A-0165-F591-9D41-4A4322AB52B4}"/>
              </a:ext>
            </a:extLst>
          </p:cNvPr>
          <p:cNvSpPr>
            <a:spLocks noGrp="1"/>
          </p:cNvSpPr>
          <p:nvPr>
            <p:ph type="title"/>
          </p:nvPr>
        </p:nvSpPr>
        <p:spPr>
          <a:xfrm>
            <a:off x="6106704" y="609600"/>
            <a:ext cx="5364444" cy="1356360"/>
          </a:xfrm>
        </p:spPr>
        <p:txBody>
          <a:bodyPr>
            <a:normAutofit/>
          </a:bodyPr>
          <a:lstStyle/>
          <a:p>
            <a:r>
              <a:rPr lang="en-US" dirty="0"/>
              <a:t>Tasks 1</a:t>
            </a:r>
            <a:endParaRPr lang="en-PK" dirty="0"/>
          </a:p>
        </p:txBody>
      </p:sp>
      <p:pic>
        <p:nvPicPr>
          <p:cNvPr id="7" name="Graphic 6" descr="Document">
            <a:extLst>
              <a:ext uri="{FF2B5EF4-FFF2-40B4-BE49-F238E27FC236}">
                <a16:creationId xmlns:a16="http://schemas.microsoft.com/office/drawing/2014/main" id="{664DFE45-FC6B-E546-768B-D985F7D3D2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2064" y="1131152"/>
            <a:ext cx="4593715" cy="4593715"/>
          </a:xfrm>
          <a:prstGeom prst="rect">
            <a:avLst/>
          </a:prstGeom>
        </p:spPr>
      </p:pic>
      <p:sp>
        <p:nvSpPr>
          <p:cNvPr id="3" name="Content Placeholder 2">
            <a:extLst>
              <a:ext uri="{FF2B5EF4-FFF2-40B4-BE49-F238E27FC236}">
                <a16:creationId xmlns:a16="http://schemas.microsoft.com/office/drawing/2014/main" id="{423B2C84-B159-CBCC-6973-5B1CA17EDF7E}"/>
              </a:ext>
            </a:extLst>
          </p:cNvPr>
          <p:cNvSpPr>
            <a:spLocks noGrp="1"/>
          </p:cNvSpPr>
          <p:nvPr>
            <p:ph idx="1"/>
          </p:nvPr>
        </p:nvSpPr>
        <p:spPr>
          <a:xfrm>
            <a:off x="6106703" y="2057400"/>
            <a:ext cx="5364444" cy="4038600"/>
          </a:xfrm>
        </p:spPr>
        <p:txBody>
          <a:bodyPr>
            <a:normAutofit/>
          </a:bodyPr>
          <a:lstStyle/>
          <a:p>
            <a:r>
              <a:rPr lang="en-US" sz="1700"/>
              <a:t>Write 3 MySQL statements each of the following:</a:t>
            </a:r>
          </a:p>
          <a:p>
            <a:pPr marL="0" rtl="0" eaLnBrk="1" fontAlgn="ctr" latinLnBrk="0" hangingPunct="1"/>
            <a:r>
              <a:rPr lang="en-US" sz="1700" b="1" i="0" u="none" strike="noStrike" kern="1200">
                <a:effectLst/>
                <a:latin typeface="Corbel" panose="020B0503020204020204" pitchFamily="34" charset="0"/>
              </a:rPr>
              <a:t>SELECT</a:t>
            </a:r>
          </a:p>
          <a:p>
            <a:pPr marL="0" rtl="0" eaLnBrk="1" fontAlgn="ctr" latinLnBrk="0" hangingPunct="1"/>
            <a:r>
              <a:rPr lang="en-US" sz="1700" b="1" i="0" u="none" strike="noStrike" kern="1200">
                <a:effectLst/>
                <a:latin typeface="Corbel" panose="020B0503020204020204" pitchFamily="34" charset="0"/>
              </a:rPr>
              <a:t>WHERE</a:t>
            </a:r>
          </a:p>
          <a:p>
            <a:pPr marL="0" rtl="0" eaLnBrk="1" fontAlgn="ctr" latinLnBrk="0" hangingPunct="1"/>
            <a:r>
              <a:rPr lang="en-US" sz="1700" b="1" i="0" u="none" strike="noStrike" kern="1200">
                <a:effectLst/>
                <a:latin typeface="Corbel" panose="020B0503020204020204" pitchFamily="34" charset="0"/>
              </a:rPr>
              <a:t>ORDER BY</a:t>
            </a:r>
            <a:endParaRPr lang="en-PK" sz="1700" b="0" i="0" u="none" strike="noStrike">
              <a:effectLst/>
              <a:latin typeface="Arial" panose="020B0604020202020204" pitchFamily="34" charset="0"/>
            </a:endParaRPr>
          </a:p>
          <a:p>
            <a:pPr marL="0" rtl="0" eaLnBrk="1" fontAlgn="ctr" latinLnBrk="0" hangingPunct="1"/>
            <a:r>
              <a:rPr lang="en-US" sz="1700" b="1" i="0" u="none" strike="noStrike" kern="1200">
                <a:effectLst/>
                <a:latin typeface="Corbel" panose="020B0503020204020204" pitchFamily="34" charset="0"/>
              </a:rPr>
              <a:t>GROUP BY</a:t>
            </a:r>
            <a:endParaRPr lang="en-PK" sz="1700" b="0" i="0" u="none" strike="noStrike">
              <a:effectLst/>
              <a:latin typeface="Arial" panose="020B0604020202020204" pitchFamily="34" charset="0"/>
            </a:endParaRPr>
          </a:p>
          <a:p>
            <a:pPr marL="0" rtl="0" eaLnBrk="1" fontAlgn="ctr" latinLnBrk="0" hangingPunct="1"/>
            <a:r>
              <a:rPr lang="en-US" sz="1700" b="1" i="0" u="none" strike="noStrike" kern="1200">
                <a:effectLst/>
                <a:latin typeface="Corbel" panose="020B0503020204020204" pitchFamily="34" charset="0"/>
              </a:rPr>
              <a:t>HAVING</a:t>
            </a:r>
            <a:endParaRPr lang="en-PK" sz="1700" b="0" i="0" u="none" strike="noStrike">
              <a:effectLst/>
              <a:latin typeface="Arial" panose="020B0604020202020204" pitchFamily="34" charset="0"/>
            </a:endParaRPr>
          </a:p>
          <a:p>
            <a:pPr marL="0" rtl="0" eaLnBrk="1" fontAlgn="ctr" latinLnBrk="0" hangingPunct="1"/>
            <a:r>
              <a:rPr lang="en-US" sz="1700" b="1" i="0" u="none" strike="noStrike" kern="1200">
                <a:effectLst/>
                <a:latin typeface="Corbel" panose="020B0503020204020204" pitchFamily="34" charset="0"/>
              </a:rPr>
              <a:t>LIMIT</a:t>
            </a:r>
            <a:endParaRPr lang="en-PK" sz="1700" b="0" i="0" u="none" strike="noStrike">
              <a:effectLst/>
              <a:latin typeface="Arial" panose="020B0604020202020204" pitchFamily="34" charset="0"/>
            </a:endParaRPr>
          </a:p>
          <a:p>
            <a:pPr marL="0" rtl="0" eaLnBrk="1" fontAlgn="ctr" latinLnBrk="0" hangingPunct="1"/>
            <a:r>
              <a:rPr lang="en-US" sz="1700" b="1" i="0" u="none" strike="noStrike" kern="1200">
                <a:effectLst/>
                <a:latin typeface="Corbel" panose="020B0503020204020204" pitchFamily="34" charset="0"/>
              </a:rPr>
              <a:t>DISTINCT</a:t>
            </a:r>
            <a:endParaRPr lang="en-PK" sz="1700" b="0" i="0" u="none" strike="noStrike">
              <a:effectLst/>
              <a:latin typeface="Arial" panose="020B0604020202020204" pitchFamily="34" charset="0"/>
            </a:endParaRPr>
          </a:p>
          <a:p>
            <a:pPr marL="0" rtl="0" eaLnBrk="1" fontAlgn="ctr" latinLnBrk="0" hangingPunct="1"/>
            <a:r>
              <a:rPr lang="en-US" sz="1700" b="1" i="0" u="none" strike="noStrike" kern="1200">
                <a:effectLst/>
                <a:latin typeface="Corbel" panose="020B0503020204020204" pitchFamily="34" charset="0"/>
              </a:rPr>
              <a:t>JOIN</a:t>
            </a:r>
            <a:endParaRPr lang="en-PK" sz="1700" b="0" i="0" u="none" strike="noStrike">
              <a:effectLst/>
              <a:latin typeface="Arial" panose="020B0604020202020204" pitchFamily="34" charset="0"/>
            </a:endParaRPr>
          </a:p>
          <a:p>
            <a:pPr marL="731520" lvl="1" indent="-457200">
              <a:buFont typeface="+mj-lt"/>
              <a:buAutoNum type="arabicPeriod"/>
            </a:pPr>
            <a:endParaRPr lang="en-PK" sz="1700"/>
          </a:p>
        </p:txBody>
      </p:sp>
    </p:spTree>
    <p:extLst>
      <p:ext uri="{BB962C8B-B14F-4D97-AF65-F5344CB8AC3E}">
        <p14:creationId xmlns:p14="http://schemas.microsoft.com/office/powerpoint/2010/main" val="4128852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0C4F1C3-3ADD-491F-8C66-57912A2421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2" name="Rectangle 11">
            <a:extLst>
              <a:ext uri="{FF2B5EF4-FFF2-40B4-BE49-F238E27FC236}">
                <a16:creationId xmlns:a16="http://schemas.microsoft.com/office/drawing/2014/main" id="{0B323FE0-DFB0-4368-A3C2-FC1402A98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14" name="Straight Connector 13">
            <a:extLst>
              <a:ext uri="{FF2B5EF4-FFF2-40B4-BE49-F238E27FC236}">
                <a16:creationId xmlns:a16="http://schemas.microsoft.com/office/drawing/2014/main" id="{E4BCA77F-6A46-46C1-822E-DF8DB6F08D5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7C684499-6F30-4C6A-8094-E2E3E91B30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8" name="Rectangle 17">
            <a:extLst>
              <a:ext uri="{FF2B5EF4-FFF2-40B4-BE49-F238E27FC236}">
                <a16:creationId xmlns:a16="http://schemas.microsoft.com/office/drawing/2014/main" id="{D5AECED4-26C2-4E8F-A340-2402369DC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4" name="Title 3">
            <a:extLst>
              <a:ext uri="{FF2B5EF4-FFF2-40B4-BE49-F238E27FC236}">
                <a16:creationId xmlns:a16="http://schemas.microsoft.com/office/drawing/2014/main" id="{4D988073-60D3-1B0B-D6FF-C69496D3495F}"/>
              </a:ext>
            </a:extLst>
          </p:cNvPr>
          <p:cNvSpPr>
            <a:spLocks noGrp="1"/>
          </p:cNvSpPr>
          <p:nvPr>
            <p:ph type="title"/>
          </p:nvPr>
        </p:nvSpPr>
        <p:spPr>
          <a:xfrm>
            <a:off x="895467" y="863364"/>
            <a:ext cx="6657476" cy="5126124"/>
          </a:xfrm>
        </p:spPr>
        <p:txBody>
          <a:bodyPr vert="horz" lIns="91440" tIns="45720" rIns="91440" bIns="45720" rtlCol="0" anchor="ctr">
            <a:normAutofit/>
          </a:bodyPr>
          <a:lstStyle/>
          <a:p>
            <a:pPr algn="r">
              <a:lnSpc>
                <a:spcPct val="85000"/>
              </a:lnSpc>
            </a:pPr>
            <a:r>
              <a:rPr lang="en-US" sz="4800" b="1" cap="all" dirty="0">
                <a:solidFill>
                  <a:schemeClr val="tx1"/>
                </a:solidFill>
                <a:latin typeface="+mj-lt"/>
                <a:cs typeface="+mj-cs"/>
              </a:rPr>
              <a:t>Data Manipulation language</a:t>
            </a:r>
            <a:br>
              <a:rPr lang="en-US" sz="4800" b="1" cap="all" dirty="0">
                <a:solidFill>
                  <a:schemeClr val="tx1"/>
                </a:solidFill>
                <a:latin typeface="+mj-lt"/>
                <a:cs typeface="+mj-cs"/>
              </a:rPr>
            </a:br>
            <a:r>
              <a:rPr lang="en-US" sz="4800" b="1" cap="all" dirty="0">
                <a:solidFill>
                  <a:schemeClr val="tx1"/>
                </a:solidFill>
                <a:latin typeface="+mj-lt"/>
                <a:cs typeface="+mj-cs"/>
              </a:rPr>
              <a:t>(DML)</a:t>
            </a:r>
          </a:p>
        </p:txBody>
      </p:sp>
      <p:cxnSp>
        <p:nvCxnSpPr>
          <p:cNvPr id="20" name="Straight Connector 19">
            <a:extLst>
              <a:ext uri="{FF2B5EF4-FFF2-40B4-BE49-F238E27FC236}">
                <a16:creationId xmlns:a16="http://schemas.microsoft.com/office/drawing/2014/main" id="{C9213D27-7A25-46D8-B1BD-E470E49C6C2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961243" y="2054826"/>
            <a:ext cx="0" cy="2743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itle 3">
            <a:extLst>
              <a:ext uri="{FF2B5EF4-FFF2-40B4-BE49-F238E27FC236}">
                <a16:creationId xmlns:a16="http://schemas.microsoft.com/office/drawing/2014/main" id="{25D9BC04-0AF1-1835-17C5-9DD0A5FB1623}"/>
              </a:ext>
            </a:extLst>
          </p:cNvPr>
          <p:cNvSpPr txBox="1">
            <a:spLocks/>
          </p:cNvSpPr>
          <p:nvPr/>
        </p:nvSpPr>
        <p:spPr>
          <a:xfrm>
            <a:off x="7958703" y="1179510"/>
            <a:ext cx="3795468" cy="512612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solidFill>
                <a:latin typeface="Arial Rounded MT Bold" panose="020F0704030504030204" pitchFamily="34" charset="0"/>
                <a:ea typeface="+mj-ea"/>
                <a:cs typeface="Arial" panose="020B0604020202020204" pitchFamily="34" charset="0"/>
              </a:defRPr>
            </a:lvl1pPr>
          </a:lstStyle>
          <a:p>
            <a:pPr marL="342900" indent="-342900">
              <a:lnSpc>
                <a:spcPct val="85000"/>
              </a:lnSpc>
              <a:buFont typeface="Arial" panose="020B0604020202020204" pitchFamily="34" charset="0"/>
              <a:buChar char="•"/>
            </a:pPr>
            <a:r>
              <a:rPr lang="en-US" sz="2400" b="1" cap="all" dirty="0">
                <a:solidFill>
                  <a:schemeClr val="tx1"/>
                </a:solidFill>
                <a:latin typeface="+mj-lt"/>
                <a:cs typeface="+mj-cs"/>
              </a:rPr>
              <a:t>Insert</a:t>
            </a:r>
          </a:p>
          <a:p>
            <a:pPr marL="342900" indent="-342900">
              <a:lnSpc>
                <a:spcPct val="85000"/>
              </a:lnSpc>
              <a:buFont typeface="Arial" panose="020B0604020202020204" pitchFamily="34" charset="0"/>
              <a:buChar char="•"/>
            </a:pPr>
            <a:r>
              <a:rPr lang="en-US" sz="2400" b="1" cap="all" dirty="0">
                <a:solidFill>
                  <a:schemeClr val="tx1"/>
                </a:solidFill>
                <a:latin typeface="+mj-lt"/>
                <a:cs typeface="+mj-cs"/>
              </a:rPr>
              <a:t>Update</a:t>
            </a:r>
          </a:p>
          <a:p>
            <a:pPr marL="342900" indent="-342900">
              <a:lnSpc>
                <a:spcPct val="85000"/>
              </a:lnSpc>
              <a:buFont typeface="Arial" panose="020B0604020202020204" pitchFamily="34" charset="0"/>
              <a:buChar char="•"/>
            </a:pPr>
            <a:r>
              <a:rPr lang="en-US" sz="2400" b="1" cap="all" dirty="0">
                <a:solidFill>
                  <a:schemeClr val="tx1"/>
                </a:solidFill>
                <a:latin typeface="+mj-lt"/>
                <a:cs typeface="+mj-cs"/>
              </a:rPr>
              <a:t>delete</a:t>
            </a:r>
          </a:p>
        </p:txBody>
      </p:sp>
    </p:spTree>
    <p:extLst>
      <p:ext uri="{BB962C8B-B14F-4D97-AF65-F5344CB8AC3E}">
        <p14:creationId xmlns:p14="http://schemas.microsoft.com/office/powerpoint/2010/main" val="391575196"/>
      </p:ext>
    </p:extLst>
  </p:cSld>
  <p:clrMapOvr>
    <a:overrideClrMapping bg1="dk1" tx1="lt1" bg2="dk2" tx2="lt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18F4B-4F4B-7D12-BB61-04D62AB8A5C1}"/>
              </a:ext>
            </a:extLst>
          </p:cNvPr>
          <p:cNvSpPr>
            <a:spLocks noGrp="1"/>
          </p:cNvSpPr>
          <p:nvPr>
            <p:ph type="title"/>
          </p:nvPr>
        </p:nvSpPr>
        <p:spPr/>
        <p:txBody>
          <a:bodyPr/>
          <a:lstStyle/>
          <a:p>
            <a:r>
              <a:rPr lang="en-US" dirty="0"/>
              <a:t>INSERT INTO Statement</a:t>
            </a:r>
            <a:endParaRPr lang="en-PK" dirty="0"/>
          </a:p>
        </p:txBody>
      </p:sp>
      <p:sp>
        <p:nvSpPr>
          <p:cNvPr id="3" name="Content Placeholder 2">
            <a:extLst>
              <a:ext uri="{FF2B5EF4-FFF2-40B4-BE49-F238E27FC236}">
                <a16:creationId xmlns:a16="http://schemas.microsoft.com/office/drawing/2014/main" id="{0072019E-893E-EBF6-5B00-58592C6F4DFA}"/>
              </a:ext>
            </a:extLst>
          </p:cNvPr>
          <p:cNvSpPr>
            <a:spLocks noGrp="1"/>
          </p:cNvSpPr>
          <p:nvPr>
            <p:ph idx="1"/>
          </p:nvPr>
        </p:nvSpPr>
        <p:spPr/>
        <p:txBody>
          <a:bodyPr/>
          <a:lstStyle/>
          <a:p>
            <a:r>
              <a:rPr lang="en-US" sz="2000" dirty="0"/>
              <a:t>The INSERT INTO statement is used to insert new records in a table.</a:t>
            </a:r>
          </a:p>
          <a:p>
            <a:r>
              <a:rPr lang="en-US" sz="2000" dirty="0"/>
              <a:t>INSERT INTO Syntax</a:t>
            </a:r>
          </a:p>
          <a:p>
            <a:pPr lvl="1"/>
            <a:r>
              <a:rPr lang="en-US" sz="2000" dirty="0"/>
              <a:t>It is possible to write the INSERT INTO statement in two ways:</a:t>
            </a:r>
          </a:p>
          <a:p>
            <a:pPr marL="274320" lvl="1" indent="0">
              <a:buNone/>
            </a:pPr>
            <a:r>
              <a:rPr lang="en-US" sz="2000" dirty="0"/>
              <a:t>	1. Specify both the column names and the values to be inserted:</a:t>
            </a:r>
          </a:p>
          <a:p>
            <a:pPr marL="274320" lvl="1" indent="0">
              <a:buNone/>
            </a:pPr>
            <a:endParaRPr lang="en-US" dirty="0"/>
          </a:p>
          <a:p>
            <a:pPr marL="274320" lvl="1" indent="0">
              <a:buNone/>
            </a:pPr>
            <a:endParaRPr lang="en-US" dirty="0"/>
          </a:p>
          <a:p>
            <a:pPr marL="274320" lvl="1" indent="0">
              <a:buNone/>
            </a:pPr>
            <a:endParaRPr lang="en-US" dirty="0"/>
          </a:p>
        </p:txBody>
      </p:sp>
      <p:pic>
        <p:nvPicPr>
          <p:cNvPr id="5" name="Picture 4">
            <a:extLst>
              <a:ext uri="{FF2B5EF4-FFF2-40B4-BE49-F238E27FC236}">
                <a16:creationId xmlns:a16="http://schemas.microsoft.com/office/drawing/2014/main" id="{DB2636F3-6243-226A-5822-FDA7DE78C95F}"/>
              </a:ext>
            </a:extLst>
          </p:cNvPr>
          <p:cNvPicPr>
            <a:picLocks noChangeAspect="1"/>
          </p:cNvPicPr>
          <p:nvPr/>
        </p:nvPicPr>
        <p:blipFill>
          <a:blip r:embed="rId2"/>
          <a:stretch>
            <a:fillRect/>
          </a:stretch>
        </p:blipFill>
        <p:spPr>
          <a:xfrm>
            <a:off x="721894" y="3633120"/>
            <a:ext cx="10918561" cy="1155448"/>
          </a:xfrm>
          <a:prstGeom prst="rect">
            <a:avLst/>
          </a:prstGeom>
        </p:spPr>
      </p:pic>
      <p:pic>
        <p:nvPicPr>
          <p:cNvPr id="7" name="Picture 6">
            <a:extLst>
              <a:ext uri="{FF2B5EF4-FFF2-40B4-BE49-F238E27FC236}">
                <a16:creationId xmlns:a16="http://schemas.microsoft.com/office/drawing/2014/main" id="{7C32A305-E362-CB2B-61DB-777D13B29237}"/>
              </a:ext>
            </a:extLst>
          </p:cNvPr>
          <p:cNvPicPr>
            <a:picLocks noChangeAspect="1"/>
          </p:cNvPicPr>
          <p:nvPr/>
        </p:nvPicPr>
        <p:blipFill>
          <a:blip r:embed="rId3"/>
          <a:stretch>
            <a:fillRect/>
          </a:stretch>
        </p:blipFill>
        <p:spPr>
          <a:xfrm>
            <a:off x="721895" y="4878559"/>
            <a:ext cx="10918561" cy="1645608"/>
          </a:xfrm>
          <a:prstGeom prst="rect">
            <a:avLst/>
          </a:prstGeom>
        </p:spPr>
      </p:pic>
    </p:spTree>
    <p:extLst>
      <p:ext uri="{BB962C8B-B14F-4D97-AF65-F5344CB8AC3E}">
        <p14:creationId xmlns:p14="http://schemas.microsoft.com/office/powerpoint/2010/main" val="12099026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B2D4F-044F-AD60-6310-19FE6E1D70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67038F-F5B7-E23E-F3B8-E6DF10A4DAF7}"/>
              </a:ext>
            </a:extLst>
          </p:cNvPr>
          <p:cNvSpPr>
            <a:spLocks noGrp="1"/>
          </p:cNvSpPr>
          <p:nvPr>
            <p:ph type="title"/>
          </p:nvPr>
        </p:nvSpPr>
        <p:spPr/>
        <p:txBody>
          <a:bodyPr/>
          <a:lstStyle/>
          <a:p>
            <a:r>
              <a:rPr lang="en-US" dirty="0"/>
              <a:t>INSERT INTO Statement</a:t>
            </a:r>
            <a:endParaRPr lang="en-PK" dirty="0"/>
          </a:p>
        </p:txBody>
      </p:sp>
      <p:sp>
        <p:nvSpPr>
          <p:cNvPr id="3" name="Content Placeholder 2">
            <a:extLst>
              <a:ext uri="{FF2B5EF4-FFF2-40B4-BE49-F238E27FC236}">
                <a16:creationId xmlns:a16="http://schemas.microsoft.com/office/drawing/2014/main" id="{AAB6D7E6-F888-2B2C-8ADF-BAA186065734}"/>
              </a:ext>
            </a:extLst>
          </p:cNvPr>
          <p:cNvSpPr>
            <a:spLocks noGrp="1"/>
          </p:cNvSpPr>
          <p:nvPr>
            <p:ph idx="1"/>
          </p:nvPr>
        </p:nvSpPr>
        <p:spPr/>
        <p:txBody>
          <a:bodyPr/>
          <a:lstStyle/>
          <a:p>
            <a:pPr marL="274320" lvl="1" indent="0">
              <a:buNone/>
            </a:pPr>
            <a:r>
              <a:rPr lang="en-US" dirty="0"/>
              <a:t>	2. If you are adding values for all the columns of the table, you do not need to specify the column names in the SQL query. However, make sure the order of the values is in the same order as the columns in the table.</a:t>
            </a:r>
          </a:p>
          <a:p>
            <a:pPr marL="274320" lvl="1" indent="0">
              <a:buNone/>
            </a:pPr>
            <a:endParaRPr lang="en-US" dirty="0"/>
          </a:p>
          <a:p>
            <a:pPr marL="274320" lvl="1" indent="0">
              <a:buNone/>
            </a:pPr>
            <a:endParaRPr lang="en-US" dirty="0"/>
          </a:p>
          <a:p>
            <a:pPr marL="274320" lvl="1" indent="0">
              <a:buNone/>
            </a:pPr>
            <a:endParaRPr lang="en-US" dirty="0"/>
          </a:p>
          <a:p>
            <a:pPr marL="274320" lvl="1" indent="0">
              <a:buNone/>
            </a:pPr>
            <a:endParaRPr lang="en-US" dirty="0"/>
          </a:p>
          <a:p>
            <a:pPr marL="274320" lvl="1" indent="0">
              <a:buNone/>
            </a:pPr>
            <a:endParaRPr lang="en-US" dirty="0"/>
          </a:p>
          <a:p>
            <a:pPr marL="274320" lvl="1" indent="0">
              <a:buNone/>
            </a:pPr>
            <a:r>
              <a:rPr lang="en-US" dirty="0"/>
              <a:t>Note: A NULL value is different from a zero value or a field that contains spaces. A field with a NULL value is one that has been left blank during record creation!</a:t>
            </a:r>
          </a:p>
          <a:p>
            <a:pPr marL="274320" lvl="1" indent="0">
              <a:buNone/>
            </a:pPr>
            <a:endParaRPr lang="en-US" dirty="0"/>
          </a:p>
          <a:p>
            <a:pPr marL="274320" lvl="1" indent="0">
              <a:buNone/>
            </a:pPr>
            <a:endParaRPr lang="en-US" dirty="0"/>
          </a:p>
          <a:p>
            <a:pPr marL="274320" lvl="1" indent="0">
              <a:buNone/>
            </a:pPr>
            <a:endParaRPr lang="en-US" dirty="0"/>
          </a:p>
          <a:p>
            <a:pPr marL="274320" lvl="1" indent="0">
              <a:buNone/>
            </a:pPr>
            <a:endParaRPr lang="en-US" dirty="0"/>
          </a:p>
          <a:p>
            <a:pPr marL="274320" lvl="1" indent="0">
              <a:buNone/>
            </a:pPr>
            <a:endParaRPr lang="en-US" dirty="0"/>
          </a:p>
          <a:p>
            <a:pPr marL="274320" lvl="1" indent="0">
              <a:buNone/>
            </a:pPr>
            <a:endParaRPr lang="en-US" dirty="0"/>
          </a:p>
          <a:p>
            <a:pPr marL="274320" lvl="1" indent="0">
              <a:buNone/>
            </a:pPr>
            <a:endParaRPr lang="en-US" dirty="0"/>
          </a:p>
          <a:p>
            <a:pPr marL="274320" lvl="1" indent="0">
              <a:buNone/>
            </a:pPr>
            <a:endParaRPr lang="en-US" dirty="0"/>
          </a:p>
        </p:txBody>
      </p:sp>
      <p:pic>
        <p:nvPicPr>
          <p:cNvPr id="9" name="Picture 8">
            <a:extLst>
              <a:ext uri="{FF2B5EF4-FFF2-40B4-BE49-F238E27FC236}">
                <a16:creationId xmlns:a16="http://schemas.microsoft.com/office/drawing/2014/main" id="{2973FD5B-59BD-267F-794F-BB0C2A61A097}"/>
              </a:ext>
            </a:extLst>
          </p:cNvPr>
          <p:cNvPicPr>
            <a:picLocks noChangeAspect="1"/>
          </p:cNvPicPr>
          <p:nvPr/>
        </p:nvPicPr>
        <p:blipFill>
          <a:blip r:embed="rId2"/>
          <a:stretch>
            <a:fillRect/>
          </a:stretch>
        </p:blipFill>
        <p:spPr>
          <a:xfrm>
            <a:off x="2500752" y="3281746"/>
            <a:ext cx="7205007" cy="1407695"/>
          </a:xfrm>
          <a:prstGeom prst="rect">
            <a:avLst/>
          </a:prstGeom>
        </p:spPr>
      </p:pic>
    </p:spTree>
    <p:extLst>
      <p:ext uri="{BB962C8B-B14F-4D97-AF65-F5344CB8AC3E}">
        <p14:creationId xmlns:p14="http://schemas.microsoft.com/office/powerpoint/2010/main" val="1885262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DAAA8B56-E2AA-FCE7-9436-F04A32293F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B4A64-55B4-38E0-0DAE-60504FFEB6C0}"/>
              </a:ext>
            </a:extLst>
          </p:cNvPr>
          <p:cNvSpPr>
            <a:spLocks noGrp="1"/>
          </p:cNvSpPr>
          <p:nvPr>
            <p:ph type="title"/>
          </p:nvPr>
        </p:nvSpPr>
        <p:spPr>
          <a:xfrm>
            <a:off x="1143000" y="609600"/>
            <a:ext cx="6693061" cy="1356360"/>
          </a:xfrm>
        </p:spPr>
        <p:txBody>
          <a:bodyPr>
            <a:normAutofit/>
          </a:bodyPr>
          <a:lstStyle/>
          <a:p>
            <a:r>
              <a:rPr lang="en-US" dirty="0"/>
              <a:t>UPDATE Statement</a:t>
            </a:r>
            <a:endParaRPr lang="en-PK" dirty="0"/>
          </a:p>
        </p:txBody>
      </p:sp>
      <p:sp>
        <p:nvSpPr>
          <p:cNvPr id="3" name="Content Placeholder 2">
            <a:extLst>
              <a:ext uri="{FF2B5EF4-FFF2-40B4-BE49-F238E27FC236}">
                <a16:creationId xmlns:a16="http://schemas.microsoft.com/office/drawing/2014/main" id="{18960BE6-3D76-EFA2-BBAD-39CEB629A6E3}"/>
              </a:ext>
            </a:extLst>
          </p:cNvPr>
          <p:cNvSpPr>
            <a:spLocks noGrp="1"/>
          </p:cNvSpPr>
          <p:nvPr>
            <p:ph idx="1"/>
          </p:nvPr>
        </p:nvSpPr>
        <p:spPr>
          <a:xfrm>
            <a:off x="1143001" y="2057400"/>
            <a:ext cx="5715000" cy="4038600"/>
          </a:xfrm>
        </p:spPr>
        <p:txBody>
          <a:bodyPr>
            <a:normAutofit/>
          </a:bodyPr>
          <a:lstStyle/>
          <a:p>
            <a:r>
              <a:rPr lang="en-US" dirty="0"/>
              <a:t>The UPDATE statement is used to modify the existing records in a table.</a:t>
            </a:r>
          </a:p>
          <a:p>
            <a:r>
              <a:rPr lang="en-US" i="1" dirty="0"/>
              <a:t>Note: </a:t>
            </a:r>
          </a:p>
          <a:p>
            <a:pPr lvl="1"/>
            <a:r>
              <a:rPr lang="en-US" sz="2000" dirty="0"/>
              <a:t>when updating records in a table! Notice the WHERE clause in the UPDATE statement. </a:t>
            </a:r>
          </a:p>
          <a:p>
            <a:pPr lvl="1"/>
            <a:endParaRPr lang="en-US" sz="2000" dirty="0"/>
          </a:p>
          <a:p>
            <a:pPr lvl="1"/>
            <a:r>
              <a:rPr lang="en-US" sz="2000" dirty="0"/>
              <a:t>The WHERE clause specifies which record(s) that should be updated. </a:t>
            </a:r>
          </a:p>
          <a:p>
            <a:pPr lvl="1"/>
            <a:endParaRPr lang="en-US" sz="2000" dirty="0"/>
          </a:p>
          <a:p>
            <a:pPr lvl="1"/>
            <a:r>
              <a:rPr lang="en-US" sz="2000" dirty="0"/>
              <a:t>If you omit the WHERE clause, all records in the table will be updated!</a:t>
            </a:r>
            <a:endParaRPr lang="en-PK" sz="2000" dirty="0"/>
          </a:p>
        </p:txBody>
      </p:sp>
      <p:pic>
        <p:nvPicPr>
          <p:cNvPr id="8" name="Picture 7" descr="A white background with black text&#10;&#10;AI-generated content may be incorrect.">
            <a:extLst>
              <a:ext uri="{FF2B5EF4-FFF2-40B4-BE49-F238E27FC236}">
                <a16:creationId xmlns:a16="http://schemas.microsoft.com/office/drawing/2014/main" id="{EB7FBC08-7E59-A20B-0152-D8FD63DBB24D}"/>
              </a:ext>
            </a:extLst>
          </p:cNvPr>
          <p:cNvPicPr>
            <a:picLocks noChangeAspect="1"/>
          </p:cNvPicPr>
          <p:nvPr/>
        </p:nvPicPr>
        <p:blipFill>
          <a:blip r:embed="rId2"/>
          <a:stretch>
            <a:fillRect/>
          </a:stretch>
        </p:blipFill>
        <p:spPr>
          <a:xfrm>
            <a:off x="6858001" y="3414811"/>
            <a:ext cx="4665534" cy="1188983"/>
          </a:xfrm>
          <a:prstGeom prst="rect">
            <a:avLst/>
          </a:prstGeom>
        </p:spPr>
      </p:pic>
      <p:pic>
        <p:nvPicPr>
          <p:cNvPr id="6" name="Picture 5" descr="A white rectangular object with black text&#10;&#10;AI-generated content may be incorrect.">
            <a:extLst>
              <a:ext uri="{FF2B5EF4-FFF2-40B4-BE49-F238E27FC236}">
                <a16:creationId xmlns:a16="http://schemas.microsoft.com/office/drawing/2014/main" id="{1B1C6205-C8B5-D383-DD4B-4EE14FD8E0D7}"/>
              </a:ext>
            </a:extLst>
          </p:cNvPr>
          <p:cNvPicPr>
            <a:picLocks noChangeAspect="1"/>
          </p:cNvPicPr>
          <p:nvPr/>
        </p:nvPicPr>
        <p:blipFill>
          <a:blip r:embed="rId3"/>
          <a:stretch>
            <a:fillRect/>
          </a:stretch>
        </p:blipFill>
        <p:spPr>
          <a:xfrm>
            <a:off x="6858001" y="1965960"/>
            <a:ext cx="4756552" cy="1188983"/>
          </a:xfrm>
          <a:prstGeom prst="rect">
            <a:avLst/>
          </a:prstGeom>
        </p:spPr>
      </p:pic>
      <p:pic>
        <p:nvPicPr>
          <p:cNvPr id="10" name="Picture 9">
            <a:extLst>
              <a:ext uri="{FF2B5EF4-FFF2-40B4-BE49-F238E27FC236}">
                <a16:creationId xmlns:a16="http://schemas.microsoft.com/office/drawing/2014/main" id="{472A7648-8CAF-4CE3-6630-B678E5192702}"/>
              </a:ext>
            </a:extLst>
          </p:cNvPr>
          <p:cNvPicPr>
            <a:picLocks noChangeAspect="1"/>
          </p:cNvPicPr>
          <p:nvPr/>
        </p:nvPicPr>
        <p:blipFill>
          <a:blip r:embed="rId4">
            <a:duotone>
              <a:prstClr val="black"/>
              <a:schemeClr val="accent2">
                <a:tint val="45000"/>
                <a:satMod val="400000"/>
              </a:schemeClr>
            </a:duotone>
          </a:blip>
          <a:stretch>
            <a:fillRect/>
          </a:stretch>
        </p:blipFill>
        <p:spPr>
          <a:xfrm>
            <a:off x="7456561" y="4928169"/>
            <a:ext cx="3468413" cy="843455"/>
          </a:xfrm>
          <a:prstGeom prst="rect">
            <a:avLst/>
          </a:prstGeom>
        </p:spPr>
      </p:pic>
    </p:spTree>
    <p:extLst>
      <p:ext uri="{BB962C8B-B14F-4D97-AF65-F5344CB8AC3E}">
        <p14:creationId xmlns:p14="http://schemas.microsoft.com/office/powerpoint/2010/main" val="8234815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78AFC-40D4-CF70-D9CE-1B07E09ADE17}"/>
              </a:ext>
            </a:extLst>
          </p:cNvPr>
          <p:cNvSpPr>
            <a:spLocks noGrp="1"/>
          </p:cNvSpPr>
          <p:nvPr>
            <p:ph type="title"/>
          </p:nvPr>
        </p:nvSpPr>
        <p:spPr/>
        <p:txBody>
          <a:bodyPr/>
          <a:lstStyle/>
          <a:p>
            <a:r>
              <a:rPr lang="en-US" dirty="0"/>
              <a:t>DELETE Statement</a:t>
            </a:r>
            <a:endParaRPr lang="en-PK" dirty="0"/>
          </a:p>
        </p:txBody>
      </p:sp>
      <p:sp>
        <p:nvSpPr>
          <p:cNvPr id="3" name="Content Placeholder 2">
            <a:extLst>
              <a:ext uri="{FF2B5EF4-FFF2-40B4-BE49-F238E27FC236}">
                <a16:creationId xmlns:a16="http://schemas.microsoft.com/office/drawing/2014/main" id="{F8A2CF95-9DBB-911A-C251-5EEB04ADCC10}"/>
              </a:ext>
            </a:extLst>
          </p:cNvPr>
          <p:cNvSpPr>
            <a:spLocks noGrp="1"/>
          </p:cNvSpPr>
          <p:nvPr>
            <p:ph idx="1"/>
          </p:nvPr>
        </p:nvSpPr>
        <p:spPr/>
        <p:txBody>
          <a:bodyPr/>
          <a:lstStyle/>
          <a:p>
            <a:r>
              <a:rPr lang="en-US" dirty="0"/>
              <a:t>The DELETE statement is used to delete existing records in a table.</a:t>
            </a:r>
          </a:p>
          <a:p>
            <a:r>
              <a:rPr lang="en-US" dirty="0"/>
              <a:t>Note: </a:t>
            </a:r>
          </a:p>
          <a:p>
            <a:pPr lvl="1"/>
            <a:r>
              <a:rPr lang="en-US" dirty="0"/>
              <a:t>while deleting records in a table! Notice the WHERE clause in the DELETE statement. </a:t>
            </a:r>
          </a:p>
          <a:p>
            <a:pPr lvl="1"/>
            <a:r>
              <a:rPr lang="en-US" dirty="0"/>
              <a:t>The WHERE clause specifies which record(s) should be deleted. </a:t>
            </a:r>
          </a:p>
          <a:p>
            <a:pPr lvl="1"/>
            <a:r>
              <a:rPr lang="en-US" dirty="0"/>
              <a:t>If you omit the WHERE clause, all records in the table will be deleted!</a:t>
            </a:r>
          </a:p>
        </p:txBody>
      </p:sp>
      <p:pic>
        <p:nvPicPr>
          <p:cNvPr id="5" name="Picture 4">
            <a:extLst>
              <a:ext uri="{FF2B5EF4-FFF2-40B4-BE49-F238E27FC236}">
                <a16:creationId xmlns:a16="http://schemas.microsoft.com/office/drawing/2014/main" id="{1FCF8699-A57C-8D5D-1729-A23653641F4D}"/>
              </a:ext>
            </a:extLst>
          </p:cNvPr>
          <p:cNvPicPr>
            <a:picLocks noChangeAspect="1"/>
          </p:cNvPicPr>
          <p:nvPr/>
        </p:nvPicPr>
        <p:blipFill>
          <a:blip r:embed="rId2"/>
          <a:stretch>
            <a:fillRect/>
          </a:stretch>
        </p:blipFill>
        <p:spPr>
          <a:xfrm>
            <a:off x="6110513" y="583328"/>
            <a:ext cx="5544457" cy="857370"/>
          </a:xfrm>
          <a:prstGeom prst="rect">
            <a:avLst/>
          </a:prstGeom>
        </p:spPr>
      </p:pic>
      <p:pic>
        <p:nvPicPr>
          <p:cNvPr id="7" name="Picture 6">
            <a:extLst>
              <a:ext uri="{FF2B5EF4-FFF2-40B4-BE49-F238E27FC236}">
                <a16:creationId xmlns:a16="http://schemas.microsoft.com/office/drawing/2014/main" id="{F0D80228-7073-7C62-F801-E5C64BC97DB2}"/>
              </a:ext>
            </a:extLst>
          </p:cNvPr>
          <p:cNvPicPr>
            <a:picLocks noChangeAspect="1"/>
          </p:cNvPicPr>
          <p:nvPr/>
        </p:nvPicPr>
        <p:blipFill>
          <a:blip r:embed="rId3"/>
          <a:stretch>
            <a:fillRect/>
          </a:stretch>
        </p:blipFill>
        <p:spPr>
          <a:xfrm>
            <a:off x="2316073" y="4635213"/>
            <a:ext cx="7588879" cy="857370"/>
          </a:xfrm>
          <a:prstGeom prst="rect">
            <a:avLst/>
          </a:prstGeom>
        </p:spPr>
      </p:pic>
      <p:pic>
        <p:nvPicPr>
          <p:cNvPr id="9" name="Picture 8">
            <a:extLst>
              <a:ext uri="{FF2B5EF4-FFF2-40B4-BE49-F238E27FC236}">
                <a16:creationId xmlns:a16="http://schemas.microsoft.com/office/drawing/2014/main" id="{A2A310E7-37EB-5820-8272-33311257EA0A}"/>
              </a:ext>
            </a:extLst>
          </p:cNvPr>
          <p:cNvPicPr>
            <a:picLocks noChangeAspect="1"/>
          </p:cNvPicPr>
          <p:nvPr/>
        </p:nvPicPr>
        <p:blipFill>
          <a:blip r:embed="rId4">
            <a:duotone>
              <a:prstClr val="black"/>
              <a:schemeClr val="accent2">
                <a:tint val="45000"/>
                <a:satMod val="400000"/>
              </a:schemeClr>
            </a:duotone>
          </a:blip>
          <a:stretch>
            <a:fillRect/>
          </a:stretch>
        </p:blipFill>
        <p:spPr>
          <a:xfrm>
            <a:off x="4498415" y="5582576"/>
            <a:ext cx="3224196" cy="857370"/>
          </a:xfrm>
          <a:prstGeom prst="rect">
            <a:avLst/>
          </a:prstGeom>
        </p:spPr>
      </p:pic>
    </p:spTree>
    <p:extLst>
      <p:ext uri="{BB962C8B-B14F-4D97-AF65-F5344CB8AC3E}">
        <p14:creationId xmlns:p14="http://schemas.microsoft.com/office/powerpoint/2010/main" val="15956146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A3B9EBC9-7837-BA08-8863-E07ABF4DF80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8030C6F-29C2-1310-03ED-62EEE33142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2" name="Rectangle 11">
            <a:extLst>
              <a:ext uri="{FF2B5EF4-FFF2-40B4-BE49-F238E27FC236}">
                <a16:creationId xmlns:a16="http://schemas.microsoft.com/office/drawing/2014/main" id="{150FA5C5-D3D3-DB29-97AB-22AB48EFF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14" name="Straight Connector 13">
            <a:extLst>
              <a:ext uri="{FF2B5EF4-FFF2-40B4-BE49-F238E27FC236}">
                <a16:creationId xmlns:a16="http://schemas.microsoft.com/office/drawing/2014/main" id="{CFC4DA8D-E369-7056-7C18-65960C58C7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176E5403-ACA9-655C-426F-C824D25F85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8" name="Rectangle 17">
            <a:extLst>
              <a:ext uri="{FF2B5EF4-FFF2-40B4-BE49-F238E27FC236}">
                <a16:creationId xmlns:a16="http://schemas.microsoft.com/office/drawing/2014/main" id="{19E6B333-B355-CB31-70EC-8CD28103E7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4" name="Title 3">
            <a:extLst>
              <a:ext uri="{FF2B5EF4-FFF2-40B4-BE49-F238E27FC236}">
                <a16:creationId xmlns:a16="http://schemas.microsoft.com/office/drawing/2014/main" id="{E8350527-B17D-DBD9-7219-32202D938611}"/>
              </a:ext>
            </a:extLst>
          </p:cNvPr>
          <p:cNvSpPr>
            <a:spLocks noGrp="1"/>
          </p:cNvSpPr>
          <p:nvPr>
            <p:ph type="title"/>
          </p:nvPr>
        </p:nvSpPr>
        <p:spPr>
          <a:xfrm>
            <a:off x="895467" y="863364"/>
            <a:ext cx="6657476" cy="5126124"/>
          </a:xfrm>
        </p:spPr>
        <p:txBody>
          <a:bodyPr vert="horz" lIns="91440" tIns="45720" rIns="91440" bIns="45720" rtlCol="0" anchor="ctr">
            <a:normAutofit/>
          </a:bodyPr>
          <a:lstStyle/>
          <a:p>
            <a:pPr algn="r">
              <a:lnSpc>
                <a:spcPct val="85000"/>
              </a:lnSpc>
            </a:pPr>
            <a:r>
              <a:rPr lang="en-US" sz="4800" b="1" cap="all" dirty="0">
                <a:solidFill>
                  <a:schemeClr val="tx1"/>
                </a:solidFill>
                <a:latin typeface="+mj-lt"/>
                <a:cs typeface="+mj-cs"/>
              </a:rPr>
              <a:t>Data CONTROL language</a:t>
            </a:r>
            <a:br>
              <a:rPr lang="en-US" sz="4800" b="1" cap="all" dirty="0">
                <a:solidFill>
                  <a:schemeClr val="tx1"/>
                </a:solidFill>
                <a:latin typeface="+mj-lt"/>
                <a:cs typeface="+mj-cs"/>
              </a:rPr>
            </a:br>
            <a:r>
              <a:rPr lang="en-US" sz="4800" b="1" cap="all" dirty="0">
                <a:solidFill>
                  <a:schemeClr val="tx1"/>
                </a:solidFill>
                <a:latin typeface="+mj-lt"/>
                <a:cs typeface="+mj-cs"/>
              </a:rPr>
              <a:t>(</a:t>
            </a:r>
            <a:r>
              <a:rPr lang="en-US" sz="4800" b="1" cap="all" dirty="0" err="1">
                <a:solidFill>
                  <a:schemeClr val="tx1"/>
                </a:solidFill>
                <a:latin typeface="+mj-lt"/>
                <a:cs typeface="+mj-cs"/>
              </a:rPr>
              <a:t>Dcl</a:t>
            </a:r>
            <a:r>
              <a:rPr lang="en-US" sz="4800" b="1" cap="all" dirty="0">
                <a:solidFill>
                  <a:schemeClr val="tx1"/>
                </a:solidFill>
                <a:latin typeface="+mj-lt"/>
                <a:cs typeface="+mj-cs"/>
              </a:rPr>
              <a:t>)</a:t>
            </a:r>
          </a:p>
        </p:txBody>
      </p:sp>
      <p:cxnSp>
        <p:nvCxnSpPr>
          <p:cNvPr id="20" name="Straight Connector 19">
            <a:extLst>
              <a:ext uri="{FF2B5EF4-FFF2-40B4-BE49-F238E27FC236}">
                <a16:creationId xmlns:a16="http://schemas.microsoft.com/office/drawing/2014/main" id="{8AC4500B-08AC-C5E7-9928-25CB8C8DC2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961243" y="2054826"/>
            <a:ext cx="0" cy="2743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itle 3">
            <a:extLst>
              <a:ext uri="{FF2B5EF4-FFF2-40B4-BE49-F238E27FC236}">
                <a16:creationId xmlns:a16="http://schemas.microsoft.com/office/drawing/2014/main" id="{1FF8DBD5-EBC8-ED16-88F2-FF594DA99049}"/>
              </a:ext>
            </a:extLst>
          </p:cNvPr>
          <p:cNvSpPr txBox="1">
            <a:spLocks/>
          </p:cNvSpPr>
          <p:nvPr/>
        </p:nvSpPr>
        <p:spPr>
          <a:xfrm>
            <a:off x="7958703" y="1179510"/>
            <a:ext cx="3795468" cy="512612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accent1"/>
                </a:solidFill>
                <a:latin typeface="Arial Rounded MT Bold" panose="020F0704030504030204" pitchFamily="34" charset="0"/>
                <a:ea typeface="+mj-ea"/>
                <a:cs typeface="Arial" panose="020B0604020202020204" pitchFamily="34" charset="0"/>
              </a:defRPr>
            </a:lvl1pPr>
          </a:lstStyle>
          <a:p>
            <a:pPr marL="342900" indent="-342900">
              <a:lnSpc>
                <a:spcPct val="85000"/>
              </a:lnSpc>
              <a:buFont typeface="Arial" panose="020B0604020202020204" pitchFamily="34" charset="0"/>
              <a:buChar char="•"/>
            </a:pPr>
            <a:r>
              <a:rPr lang="en-US" sz="2400" b="1" cap="all" dirty="0">
                <a:solidFill>
                  <a:schemeClr val="tx1"/>
                </a:solidFill>
                <a:latin typeface="+mj-lt"/>
                <a:cs typeface="+mj-cs"/>
              </a:rPr>
              <a:t>grant</a:t>
            </a:r>
          </a:p>
          <a:p>
            <a:pPr marL="342900" indent="-342900">
              <a:lnSpc>
                <a:spcPct val="85000"/>
              </a:lnSpc>
              <a:buFont typeface="Arial" panose="020B0604020202020204" pitchFamily="34" charset="0"/>
              <a:buChar char="•"/>
            </a:pPr>
            <a:r>
              <a:rPr lang="en-US" sz="2400" b="1" cap="all" dirty="0">
                <a:solidFill>
                  <a:schemeClr val="tx1"/>
                </a:solidFill>
                <a:latin typeface="+mj-lt"/>
                <a:cs typeface="+mj-cs"/>
              </a:rPr>
              <a:t>revoke</a:t>
            </a:r>
          </a:p>
        </p:txBody>
      </p:sp>
    </p:spTree>
    <p:extLst>
      <p:ext uri="{BB962C8B-B14F-4D97-AF65-F5344CB8AC3E}">
        <p14:creationId xmlns:p14="http://schemas.microsoft.com/office/powerpoint/2010/main" val="1229231560"/>
      </p:ext>
    </p:extLst>
  </p:cSld>
  <p:clrMapOvr>
    <a:overrideClrMapping bg1="dk1" tx1="lt1" bg2="dk2" tx2="lt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23A56-B317-F348-C861-1130297344FC}"/>
              </a:ext>
            </a:extLst>
          </p:cNvPr>
          <p:cNvSpPr>
            <a:spLocks noGrp="1"/>
          </p:cNvSpPr>
          <p:nvPr>
            <p:ph type="title"/>
          </p:nvPr>
        </p:nvSpPr>
        <p:spPr/>
        <p:txBody>
          <a:bodyPr/>
          <a:lstStyle/>
          <a:p>
            <a:r>
              <a:rPr lang="en-US" dirty="0"/>
              <a:t>Data Control Language (DCL)</a:t>
            </a:r>
            <a:endParaRPr lang="en-PK" dirty="0"/>
          </a:p>
        </p:txBody>
      </p:sp>
      <p:sp>
        <p:nvSpPr>
          <p:cNvPr id="3" name="Content Placeholder 2">
            <a:extLst>
              <a:ext uri="{FF2B5EF4-FFF2-40B4-BE49-F238E27FC236}">
                <a16:creationId xmlns:a16="http://schemas.microsoft.com/office/drawing/2014/main" id="{523A0995-1B94-BA94-5447-8FABE80CBE2C}"/>
              </a:ext>
            </a:extLst>
          </p:cNvPr>
          <p:cNvSpPr>
            <a:spLocks noGrp="1"/>
          </p:cNvSpPr>
          <p:nvPr>
            <p:ph idx="1"/>
          </p:nvPr>
        </p:nvSpPr>
        <p:spPr/>
        <p:txBody>
          <a:bodyPr/>
          <a:lstStyle/>
          <a:p>
            <a:r>
              <a:rPr lang="en-US" dirty="0"/>
              <a:t>DCL is used to control access to the data in a database. It includes commands that grant or revoke user permissions.</a:t>
            </a:r>
          </a:p>
          <a:p>
            <a:endParaRPr lang="en-US" dirty="0"/>
          </a:p>
          <a:p>
            <a:pPr lvl="1">
              <a:buFont typeface="+mj-lt"/>
              <a:buAutoNum type="arabicPeriod"/>
            </a:pPr>
            <a:r>
              <a:rPr lang="en-US" b="1" dirty="0"/>
              <a:t>GRANT</a:t>
            </a:r>
            <a:r>
              <a:rPr lang="en-US" dirty="0"/>
              <a:t> – Provides specific privileges to users.</a:t>
            </a:r>
          </a:p>
          <a:p>
            <a:pPr lvl="1">
              <a:buFont typeface="+mj-lt"/>
              <a:buAutoNum type="arabicPeriod"/>
            </a:pPr>
            <a:r>
              <a:rPr lang="en-US" b="1" dirty="0"/>
              <a:t>REVOKE</a:t>
            </a:r>
            <a:r>
              <a:rPr lang="en-US" dirty="0"/>
              <a:t> – Removes specific privileges from users.</a:t>
            </a:r>
          </a:p>
          <a:p>
            <a:endParaRPr lang="en-PK" dirty="0"/>
          </a:p>
        </p:txBody>
      </p:sp>
      <p:pic>
        <p:nvPicPr>
          <p:cNvPr id="5" name="Picture 4">
            <a:extLst>
              <a:ext uri="{FF2B5EF4-FFF2-40B4-BE49-F238E27FC236}">
                <a16:creationId xmlns:a16="http://schemas.microsoft.com/office/drawing/2014/main" id="{D74842EA-2E67-BA4E-AEB5-1C74181DFAC9}"/>
              </a:ext>
            </a:extLst>
          </p:cNvPr>
          <p:cNvPicPr>
            <a:picLocks noChangeAspect="1"/>
          </p:cNvPicPr>
          <p:nvPr/>
        </p:nvPicPr>
        <p:blipFill>
          <a:blip r:embed="rId2"/>
          <a:stretch>
            <a:fillRect/>
          </a:stretch>
        </p:blipFill>
        <p:spPr>
          <a:xfrm>
            <a:off x="714109" y="4410749"/>
            <a:ext cx="5359989" cy="765713"/>
          </a:xfrm>
          <a:prstGeom prst="rect">
            <a:avLst/>
          </a:prstGeom>
        </p:spPr>
      </p:pic>
      <p:pic>
        <p:nvPicPr>
          <p:cNvPr id="7" name="Picture 6">
            <a:extLst>
              <a:ext uri="{FF2B5EF4-FFF2-40B4-BE49-F238E27FC236}">
                <a16:creationId xmlns:a16="http://schemas.microsoft.com/office/drawing/2014/main" id="{9C156914-BA7E-2EAE-338F-18C697EC84B7}"/>
              </a:ext>
            </a:extLst>
          </p:cNvPr>
          <p:cNvPicPr>
            <a:picLocks noChangeAspect="1"/>
          </p:cNvPicPr>
          <p:nvPr/>
        </p:nvPicPr>
        <p:blipFill>
          <a:blip r:embed="rId3"/>
          <a:stretch>
            <a:fillRect/>
          </a:stretch>
        </p:blipFill>
        <p:spPr>
          <a:xfrm>
            <a:off x="6236663" y="4534832"/>
            <a:ext cx="5359989" cy="612144"/>
          </a:xfrm>
          <a:prstGeom prst="rect">
            <a:avLst/>
          </a:prstGeom>
        </p:spPr>
      </p:pic>
      <p:pic>
        <p:nvPicPr>
          <p:cNvPr id="9" name="Picture 8">
            <a:extLst>
              <a:ext uri="{FF2B5EF4-FFF2-40B4-BE49-F238E27FC236}">
                <a16:creationId xmlns:a16="http://schemas.microsoft.com/office/drawing/2014/main" id="{55AEDA79-1D01-9AFD-1AFE-10E0218FA1F1}"/>
              </a:ext>
            </a:extLst>
          </p:cNvPr>
          <p:cNvPicPr>
            <a:picLocks noChangeAspect="1"/>
          </p:cNvPicPr>
          <p:nvPr/>
        </p:nvPicPr>
        <p:blipFill>
          <a:blip r:embed="rId4"/>
          <a:stretch>
            <a:fillRect/>
          </a:stretch>
        </p:blipFill>
        <p:spPr>
          <a:xfrm>
            <a:off x="727554" y="5360641"/>
            <a:ext cx="5567428" cy="504923"/>
          </a:xfrm>
          <a:prstGeom prst="rect">
            <a:avLst/>
          </a:prstGeom>
        </p:spPr>
      </p:pic>
      <p:pic>
        <p:nvPicPr>
          <p:cNvPr id="11" name="Picture 10">
            <a:extLst>
              <a:ext uri="{FF2B5EF4-FFF2-40B4-BE49-F238E27FC236}">
                <a16:creationId xmlns:a16="http://schemas.microsoft.com/office/drawing/2014/main" id="{19D60913-1088-86B0-D6AE-0CFFE5109C8F}"/>
              </a:ext>
            </a:extLst>
          </p:cNvPr>
          <p:cNvPicPr>
            <a:picLocks noChangeAspect="1"/>
          </p:cNvPicPr>
          <p:nvPr/>
        </p:nvPicPr>
        <p:blipFill>
          <a:blip r:embed="rId5"/>
          <a:stretch>
            <a:fillRect/>
          </a:stretch>
        </p:blipFill>
        <p:spPr>
          <a:xfrm>
            <a:off x="6261628" y="5295705"/>
            <a:ext cx="5277668" cy="612143"/>
          </a:xfrm>
          <a:prstGeom prst="rect">
            <a:avLst/>
          </a:prstGeom>
        </p:spPr>
      </p:pic>
      <p:sp>
        <p:nvSpPr>
          <p:cNvPr id="12" name="TextBox 11">
            <a:extLst>
              <a:ext uri="{FF2B5EF4-FFF2-40B4-BE49-F238E27FC236}">
                <a16:creationId xmlns:a16="http://schemas.microsoft.com/office/drawing/2014/main" id="{01673658-32D7-17A7-7E5F-FF649E9D4D69}"/>
              </a:ext>
            </a:extLst>
          </p:cNvPr>
          <p:cNvSpPr txBox="1"/>
          <p:nvPr/>
        </p:nvSpPr>
        <p:spPr>
          <a:xfrm>
            <a:off x="851338" y="4159685"/>
            <a:ext cx="958917" cy="369332"/>
          </a:xfrm>
          <a:prstGeom prst="rect">
            <a:avLst/>
          </a:prstGeom>
          <a:noFill/>
        </p:spPr>
        <p:txBody>
          <a:bodyPr wrap="none" rtlCol="0">
            <a:spAutoFit/>
          </a:bodyPr>
          <a:lstStyle/>
          <a:p>
            <a:r>
              <a:rPr lang="en-US" b="1" dirty="0">
                <a:solidFill>
                  <a:schemeClr val="accent1"/>
                </a:solidFill>
              </a:rPr>
              <a:t>Syntax:</a:t>
            </a:r>
            <a:endParaRPr lang="en-PK" b="1" dirty="0">
              <a:solidFill>
                <a:schemeClr val="accent1"/>
              </a:solidFill>
            </a:endParaRPr>
          </a:p>
        </p:txBody>
      </p:sp>
      <p:sp>
        <p:nvSpPr>
          <p:cNvPr id="13" name="TextBox 12">
            <a:extLst>
              <a:ext uri="{FF2B5EF4-FFF2-40B4-BE49-F238E27FC236}">
                <a16:creationId xmlns:a16="http://schemas.microsoft.com/office/drawing/2014/main" id="{E9365BDE-1B99-4836-CDCC-6CAF419B59B7}"/>
              </a:ext>
            </a:extLst>
          </p:cNvPr>
          <p:cNvSpPr txBox="1"/>
          <p:nvPr/>
        </p:nvSpPr>
        <p:spPr>
          <a:xfrm>
            <a:off x="6294982" y="4159685"/>
            <a:ext cx="1122423" cy="369332"/>
          </a:xfrm>
          <a:prstGeom prst="rect">
            <a:avLst/>
          </a:prstGeom>
          <a:noFill/>
        </p:spPr>
        <p:txBody>
          <a:bodyPr wrap="none" rtlCol="0">
            <a:spAutoFit/>
          </a:bodyPr>
          <a:lstStyle/>
          <a:p>
            <a:r>
              <a:rPr lang="en-US" b="1" dirty="0">
                <a:solidFill>
                  <a:schemeClr val="accent1"/>
                </a:solidFill>
              </a:rPr>
              <a:t>Example:</a:t>
            </a:r>
            <a:endParaRPr lang="en-PK" b="1" dirty="0">
              <a:solidFill>
                <a:schemeClr val="accent1"/>
              </a:solidFill>
            </a:endParaRPr>
          </a:p>
        </p:txBody>
      </p:sp>
    </p:spTree>
    <p:extLst>
      <p:ext uri="{BB962C8B-B14F-4D97-AF65-F5344CB8AC3E}">
        <p14:creationId xmlns:p14="http://schemas.microsoft.com/office/powerpoint/2010/main" val="33171165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6" name="Picture 5" descr="A close-up of a text&#10;&#10;AI-generated content may be incorrect.">
            <a:extLst>
              <a:ext uri="{FF2B5EF4-FFF2-40B4-BE49-F238E27FC236}">
                <a16:creationId xmlns:a16="http://schemas.microsoft.com/office/drawing/2014/main" id="{7CEA83F1-4353-3276-AA07-7D6B5FED906D}"/>
              </a:ext>
            </a:extLst>
          </p:cNvPr>
          <p:cNvPicPr>
            <a:picLocks noChangeAspect="1"/>
          </p:cNvPicPr>
          <p:nvPr/>
        </p:nvPicPr>
        <p:blipFill>
          <a:blip r:embed="rId2"/>
          <a:stretch>
            <a:fillRect/>
          </a:stretch>
        </p:blipFill>
        <p:spPr>
          <a:xfrm>
            <a:off x="4650829" y="2767569"/>
            <a:ext cx="4351282" cy="795299"/>
          </a:xfrm>
          <a:prstGeom prst="rect">
            <a:avLst/>
          </a:prstGeom>
        </p:spPr>
      </p:pic>
      <p:sp>
        <p:nvSpPr>
          <p:cNvPr id="2" name="Title 1">
            <a:extLst>
              <a:ext uri="{FF2B5EF4-FFF2-40B4-BE49-F238E27FC236}">
                <a16:creationId xmlns:a16="http://schemas.microsoft.com/office/drawing/2014/main" id="{2A248A9A-C55E-CDE8-F640-D6980E740E4F}"/>
              </a:ext>
            </a:extLst>
          </p:cNvPr>
          <p:cNvSpPr>
            <a:spLocks noGrp="1"/>
          </p:cNvSpPr>
          <p:nvPr>
            <p:ph type="title"/>
          </p:nvPr>
        </p:nvSpPr>
        <p:spPr>
          <a:xfrm>
            <a:off x="1143000" y="609600"/>
            <a:ext cx="6693061" cy="1356360"/>
          </a:xfrm>
        </p:spPr>
        <p:txBody>
          <a:bodyPr>
            <a:normAutofit/>
          </a:bodyPr>
          <a:lstStyle/>
          <a:p>
            <a:r>
              <a:rPr lang="en-US" dirty="0"/>
              <a:t>Transaction Control Language (TCL)</a:t>
            </a:r>
            <a:endParaRPr lang="en-PK" dirty="0"/>
          </a:p>
        </p:txBody>
      </p:sp>
      <p:sp>
        <p:nvSpPr>
          <p:cNvPr id="3" name="Content Placeholder 2">
            <a:extLst>
              <a:ext uri="{FF2B5EF4-FFF2-40B4-BE49-F238E27FC236}">
                <a16:creationId xmlns:a16="http://schemas.microsoft.com/office/drawing/2014/main" id="{360B1C6C-EB64-6AE0-5D2C-91535E2E9671}"/>
              </a:ext>
            </a:extLst>
          </p:cNvPr>
          <p:cNvSpPr>
            <a:spLocks noGrp="1"/>
          </p:cNvSpPr>
          <p:nvPr>
            <p:ph idx="1"/>
          </p:nvPr>
        </p:nvSpPr>
        <p:spPr>
          <a:xfrm>
            <a:off x="1143000" y="1965960"/>
            <a:ext cx="10583761" cy="4130040"/>
          </a:xfrm>
        </p:spPr>
        <p:txBody>
          <a:bodyPr>
            <a:normAutofit/>
          </a:bodyPr>
          <a:lstStyle/>
          <a:p>
            <a:r>
              <a:rPr lang="en-US" dirty="0"/>
              <a:t>TCL is used to manage database transactions of the data.</a:t>
            </a:r>
          </a:p>
          <a:p>
            <a:pPr marL="731520" lvl="1" indent="-457200">
              <a:buFont typeface="+mj-lt"/>
              <a:buAutoNum type="arabicPeriod"/>
            </a:pPr>
            <a:r>
              <a:rPr lang="en-US" sz="1800" dirty="0"/>
              <a:t>COMMIT – Saves all changes made in the current transaction.</a:t>
            </a:r>
          </a:p>
          <a:p>
            <a:pPr marL="731520" lvl="1" indent="-457200">
              <a:buFont typeface="+mj-lt"/>
              <a:buAutoNum type="arabicPeriod"/>
            </a:pPr>
            <a:endParaRPr lang="en-US" sz="1800" dirty="0"/>
          </a:p>
          <a:p>
            <a:pPr marL="731520" lvl="1" indent="-457200">
              <a:buFont typeface="+mj-lt"/>
              <a:buAutoNum type="arabicPeriod"/>
            </a:pPr>
            <a:endParaRPr lang="en-US" sz="1800" dirty="0"/>
          </a:p>
          <a:p>
            <a:pPr marL="731520" lvl="1" indent="-457200">
              <a:buFont typeface="+mj-lt"/>
              <a:buAutoNum type="arabicPeriod"/>
            </a:pPr>
            <a:endParaRPr lang="en-US" sz="1800" dirty="0"/>
          </a:p>
          <a:p>
            <a:pPr marL="731520" lvl="1" indent="-457200">
              <a:buFont typeface="+mj-lt"/>
              <a:buAutoNum type="arabicPeriod"/>
            </a:pPr>
            <a:r>
              <a:rPr lang="en-US" sz="1800" dirty="0"/>
              <a:t>ROLLBACK – Undoes all changes in the current transaction.</a:t>
            </a:r>
          </a:p>
          <a:p>
            <a:pPr marL="731520" lvl="1" indent="-457200">
              <a:buFont typeface="+mj-lt"/>
              <a:buAutoNum type="arabicPeriod"/>
            </a:pPr>
            <a:endParaRPr lang="en-US" sz="1800" dirty="0"/>
          </a:p>
          <a:p>
            <a:pPr marL="731520" lvl="1" indent="-457200">
              <a:buFont typeface="+mj-lt"/>
              <a:buAutoNum type="arabicPeriod"/>
            </a:pPr>
            <a:endParaRPr lang="en-US" sz="1800" dirty="0"/>
          </a:p>
          <a:p>
            <a:pPr marL="731520" lvl="1" indent="-457200">
              <a:buFont typeface="+mj-lt"/>
              <a:buAutoNum type="arabicPeriod"/>
            </a:pPr>
            <a:endParaRPr lang="en-US" sz="1800" dirty="0"/>
          </a:p>
          <a:p>
            <a:pPr marL="731520" lvl="1" indent="-457200">
              <a:buFont typeface="+mj-lt"/>
              <a:buAutoNum type="arabicPeriod"/>
            </a:pPr>
            <a:r>
              <a:rPr lang="en-US" sz="1800" dirty="0"/>
              <a:t>SAVEPOINT – Sets a save point within a transaction to which you can later roll back.</a:t>
            </a:r>
            <a:endParaRPr lang="en-PK" sz="1800" dirty="0"/>
          </a:p>
        </p:txBody>
      </p:sp>
      <p:pic>
        <p:nvPicPr>
          <p:cNvPr id="8" name="Picture 7" descr="A close-up of a text&#10;&#10;AI-generated content may be incorrect.">
            <a:extLst>
              <a:ext uri="{FF2B5EF4-FFF2-40B4-BE49-F238E27FC236}">
                <a16:creationId xmlns:a16="http://schemas.microsoft.com/office/drawing/2014/main" id="{3A68AD3C-3272-00BF-B283-3484641024DA}"/>
              </a:ext>
            </a:extLst>
          </p:cNvPr>
          <p:cNvPicPr>
            <a:picLocks noChangeAspect="1"/>
          </p:cNvPicPr>
          <p:nvPr/>
        </p:nvPicPr>
        <p:blipFill>
          <a:blip r:embed="rId3"/>
          <a:stretch>
            <a:fillRect/>
          </a:stretch>
        </p:blipFill>
        <p:spPr>
          <a:xfrm>
            <a:off x="4260771" y="4015679"/>
            <a:ext cx="4351282" cy="734278"/>
          </a:xfrm>
          <a:prstGeom prst="rect">
            <a:avLst/>
          </a:prstGeom>
        </p:spPr>
      </p:pic>
      <p:pic>
        <p:nvPicPr>
          <p:cNvPr id="10" name="Picture 9">
            <a:extLst>
              <a:ext uri="{FF2B5EF4-FFF2-40B4-BE49-F238E27FC236}">
                <a16:creationId xmlns:a16="http://schemas.microsoft.com/office/drawing/2014/main" id="{76977897-130B-98B9-3F78-FEC2E8EBE854}"/>
              </a:ext>
            </a:extLst>
          </p:cNvPr>
          <p:cNvPicPr>
            <a:picLocks noChangeAspect="1"/>
          </p:cNvPicPr>
          <p:nvPr/>
        </p:nvPicPr>
        <p:blipFill>
          <a:blip r:embed="rId4"/>
          <a:stretch>
            <a:fillRect/>
          </a:stretch>
        </p:blipFill>
        <p:spPr>
          <a:xfrm>
            <a:off x="3905783" y="5204886"/>
            <a:ext cx="6420630" cy="1417705"/>
          </a:xfrm>
          <a:prstGeom prst="rect">
            <a:avLst/>
          </a:prstGeom>
        </p:spPr>
      </p:pic>
    </p:spTree>
    <p:extLst>
      <p:ext uri="{BB962C8B-B14F-4D97-AF65-F5344CB8AC3E}">
        <p14:creationId xmlns:p14="http://schemas.microsoft.com/office/powerpoint/2010/main" val="2629607431"/>
      </p:ext>
    </p:extLst>
  </p:cSld>
  <p:clrMapOvr>
    <a:masterClrMapping/>
  </p:clrMapOvr>
</p:sld>
</file>

<file path=ppt/theme/theme1.xml><?xml version="1.0" encoding="utf-8"?>
<a:theme xmlns:a="http://schemas.openxmlformats.org/drawingml/2006/main" name="Basis">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Basis</Template>
  <TotalTime>7703</TotalTime>
  <Words>1577</Words>
  <Application>Microsoft Office PowerPoint</Application>
  <PresentationFormat>Widescreen</PresentationFormat>
  <Paragraphs>216</Paragraphs>
  <Slides>41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Arial Rounded MT Bold</vt:lpstr>
      <vt:lpstr>Corbel</vt:lpstr>
      <vt:lpstr>Basis</vt:lpstr>
      <vt:lpstr>DATABASE SYSTEMS</vt:lpstr>
      <vt:lpstr>MySQL</vt:lpstr>
      <vt:lpstr>PowerPoint Presentation</vt:lpstr>
      <vt:lpstr>Overview of DDL Statements</vt:lpstr>
      <vt:lpstr>CREATE Statements</vt:lpstr>
      <vt:lpstr>CREATE Statements</vt:lpstr>
      <vt:lpstr>MySQL Data Types</vt:lpstr>
      <vt:lpstr>MySQL Data Types</vt:lpstr>
      <vt:lpstr>MySQL Data Types</vt:lpstr>
      <vt:lpstr>ALTER Statements</vt:lpstr>
      <vt:lpstr>ALTER Statements</vt:lpstr>
      <vt:lpstr>ALTER Statements</vt:lpstr>
      <vt:lpstr>MySQL Constraints</vt:lpstr>
      <vt:lpstr>MySQL Constraints</vt:lpstr>
      <vt:lpstr>MySQL Constraints</vt:lpstr>
      <vt:lpstr>MySQL Constraints</vt:lpstr>
      <vt:lpstr>DROP</vt:lpstr>
      <vt:lpstr>Drop Statements</vt:lpstr>
      <vt:lpstr>Truncate Statements</vt:lpstr>
      <vt:lpstr>RENAME Statements</vt:lpstr>
      <vt:lpstr>CREATE INDEX</vt:lpstr>
      <vt:lpstr>DROP INDEX</vt:lpstr>
      <vt:lpstr>PowerPoint Presentation</vt:lpstr>
      <vt:lpstr>Data QUEYRY language (DQl)</vt:lpstr>
      <vt:lpstr>Capabilities of SELECT Statements</vt:lpstr>
      <vt:lpstr>Data Query Language (DQL)</vt:lpstr>
      <vt:lpstr>Selecting All Columns</vt:lpstr>
      <vt:lpstr>Selecting Specific Columns</vt:lpstr>
      <vt:lpstr>PowerPoint Presentation</vt:lpstr>
      <vt:lpstr>WHERE Clause</vt:lpstr>
      <vt:lpstr>AND, OR and NOT Operators</vt:lpstr>
      <vt:lpstr>PowerPoint Presentation</vt:lpstr>
      <vt:lpstr>Tasks 1</vt:lpstr>
      <vt:lpstr>Data Manipulation language (DML)</vt:lpstr>
      <vt:lpstr>INSERT INTO Statement</vt:lpstr>
      <vt:lpstr>INSERT INTO Statement</vt:lpstr>
      <vt:lpstr>UPDATE Statement</vt:lpstr>
      <vt:lpstr>DELETE Statement</vt:lpstr>
      <vt:lpstr>Data CONTROL language (Dcl)</vt:lpstr>
      <vt:lpstr>Data Control Language (DCL)</vt:lpstr>
      <vt:lpstr>Transaction Control Language (TCL)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Younis</dc:creator>
  <cp:lastModifiedBy>Muhammad Younis</cp:lastModifiedBy>
  <cp:revision>17</cp:revision>
  <dcterms:created xsi:type="dcterms:W3CDTF">2025-02-03T04:44:41Z</dcterms:created>
  <dcterms:modified xsi:type="dcterms:W3CDTF">2026-02-01T20:03:12Z</dcterms:modified>
</cp:coreProperties>
</file>